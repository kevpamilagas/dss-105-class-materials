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1"/>
  </p:notesMasterIdLst>
  <p:sldIdLst>
    <p:sldId id="313" r:id="rId2"/>
    <p:sldId id="302" r:id="rId3"/>
    <p:sldId id="266" r:id="rId4"/>
    <p:sldId id="306" r:id="rId5"/>
    <p:sldId id="341" r:id="rId6"/>
    <p:sldId id="340" r:id="rId7"/>
    <p:sldId id="337" r:id="rId8"/>
    <p:sldId id="339" r:id="rId9"/>
    <p:sldId id="344" r:id="rId10"/>
    <p:sldId id="342" r:id="rId11"/>
    <p:sldId id="311" r:id="rId12"/>
    <p:sldId id="315" r:id="rId13"/>
    <p:sldId id="327" r:id="rId14"/>
    <p:sldId id="316" r:id="rId15"/>
    <p:sldId id="321" r:id="rId16"/>
    <p:sldId id="322" r:id="rId17"/>
    <p:sldId id="323" r:id="rId18"/>
    <p:sldId id="328" r:id="rId19"/>
    <p:sldId id="324" r:id="rId20"/>
    <p:sldId id="325" r:id="rId21"/>
    <p:sldId id="329" r:id="rId22"/>
    <p:sldId id="330" r:id="rId23"/>
    <p:sldId id="326" r:id="rId24"/>
    <p:sldId id="331" r:id="rId25"/>
    <p:sldId id="332" r:id="rId26"/>
    <p:sldId id="333" r:id="rId27"/>
    <p:sldId id="318" r:id="rId28"/>
    <p:sldId id="334" r:id="rId29"/>
    <p:sldId id="335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7300"/>
    <a:srgbClr val="3A3A3A"/>
    <a:srgbClr val="316728"/>
    <a:srgbClr val="3B3B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70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84" y="1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945C2E-64BA-4299-85D9-6B3873C5FBAF}" type="datetimeFigureOut">
              <a:rPr lang="en-US" smtClean="0"/>
              <a:t>4/26/23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84BCD9-8A95-4B10-B16F-9AC99E7F78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030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910099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BC64-41CB-41B8-B6DF-9B1367312B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082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63040"/>
            <a:ext cx="3868340" cy="73988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298811"/>
            <a:ext cx="3868340" cy="3657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463040"/>
            <a:ext cx="3887391" cy="7398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298811"/>
            <a:ext cx="3887391" cy="3657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BC64-41CB-41B8-B6DF-9B1367312BD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28650" y="640082"/>
            <a:ext cx="7886700" cy="7270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37726921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BC64-41CB-41B8-B6DF-9B1367312BD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8650" y="640082"/>
            <a:ext cx="7886700" cy="7270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505201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5C17F1-9F5F-4A76-A68B-F2DFCD1824E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6707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 noChangeArrowheads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972803" name="Rectangle 3"/>
          <p:cNvSpPr>
            <a:spLocks noChangeArrowheads="1"/>
          </p:cNvSpPr>
          <p:nvPr/>
        </p:nvSpPr>
        <p:spPr bwMode="auto">
          <a:xfrm flipV="1">
            <a:off x="1589" y="6489704"/>
            <a:ext cx="1811337" cy="60325"/>
          </a:xfrm>
          <a:prstGeom prst="rect">
            <a:avLst/>
          </a:prstGeom>
          <a:gradFill rotWithShape="0">
            <a:gsLst>
              <a:gs pos="0">
                <a:srgbClr val="000099"/>
              </a:gs>
              <a:gs pos="100000">
                <a:schemeClr val="accent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033" tIns="45515" rIns="91033" bIns="45515" anchor="ctr"/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sz="2000" dirty="0">
              <a:solidFill>
                <a:srgbClr val="000000"/>
              </a:solidFill>
              <a:latin typeface="+mn-lt"/>
              <a:cs typeface="+mn-cs"/>
            </a:endParaRPr>
          </a:p>
        </p:txBody>
      </p:sp>
      <p:sp>
        <p:nvSpPr>
          <p:cNvPr id="972804" name="Rectangle 4"/>
          <p:cNvSpPr>
            <a:spLocks noChangeArrowheads="1"/>
          </p:cNvSpPr>
          <p:nvPr/>
        </p:nvSpPr>
        <p:spPr bwMode="auto">
          <a:xfrm flipV="1">
            <a:off x="7107240" y="6500813"/>
            <a:ext cx="2022475" cy="6191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rgbClr val="DDDDDD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rot="10800000" wrap="none" lIns="82972" tIns="41489" rIns="82972" bIns="41489" anchor="ctr"/>
          <a:lstStyle/>
          <a:p>
            <a:pPr algn="ctr" defTabSz="826982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sz="2000" dirty="0">
              <a:solidFill>
                <a:srgbClr val="000000"/>
              </a:solidFill>
              <a:latin typeface="+mn-lt"/>
              <a:cs typeface="+mn-cs"/>
            </a:endParaRPr>
          </a:p>
        </p:txBody>
      </p:sp>
      <p:sp>
        <p:nvSpPr>
          <p:cNvPr id="972805" name="Text Box 5"/>
          <p:cNvSpPr txBox="1">
            <a:spLocks noChangeArrowheads="1"/>
          </p:cNvSpPr>
          <p:nvPr/>
        </p:nvSpPr>
        <p:spPr bwMode="auto">
          <a:xfrm>
            <a:off x="1844676" y="6386514"/>
            <a:ext cx="5269026" cy="268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972" tIns="41489" rIns="82972" bIns="41489">
            <a:spAutoFit/>
          </a:bodyPr>
          <a:lstStyle/>
          <a:p>
            <a:pPr defTabSz="829818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i="1" dirty="0">
                <a:solidFill>
                  <a:srgbClr val="000066"/>
                </a:solidFill>
                <a:latin typeface="+mn-lt"/>
                <a:cs typeface="+mn-cs"/>
              </a:rPr>
              <a:t>Air University: The Intellectual and Leadership Center of the Air Force</a:t>
            </a:r>
          </a:p>
        </p:txBody>
      </p:sp>
      <p:sp>
        <p:nvSpPr>
          <p:cNvPr id="972808" name="Rectangle 8"/>
          <p:cNvSpPr>
            <a:spLocks noChangeArrowheads="1"/>
          </p:cNvSpPr>
          <p:nvPr/>
        </p:nvSpPr>
        <p:spPr bwMode="auto">
          <a:xfrm flipV="1">
            <a:off x="6324600" y="989017"/>
            <a:ext cx="2819400" cy="77787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rgbClr val="DDDDDD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rot="10800000" wrap="none" lIns="82972" tIns="41489" rIns="82972" bIns="41489" anchor="ctr"/>
          <a:lstStyle/>
          <a:p>
            <a:pPr algn="ctr" defTabSz="826982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sz="2000" dirty="0">
              <a:solidFill>
                <a:srgbClr val="000000"/>
              </a:solidFill>
              <a:latin typeface="+mn-lt"/>
              <a:cs typeface="+mn-cs"/>
            </a:endParaRPr>
          </a:p>
        </p:txBody>
      </p:sp>
      <p:sp>
        <p:nvSpPr>
          <p:cNvPr id="3079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0"/>
            <a:ext cx="7772400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011" tIns="45506" rIns="91011" bIns="4550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972810" name="Rectangle 10"/>
          <p:cNvSpPr>
            <a:spLocks noChangeArrowheads="1"/>
          </p:cNvSpPr>
          <p:nvPr/>
        </p:nvSpPr>
        <p:spPr bwMode="auto">
          <a:xfrm flipV="1">
            <a:off x="0" y="989013"/>
            <a:ext cx="2478088" cy="74612"/>
          </a:xfrm>
          <a:prstGeom prst="rect">
            <a:avLst/>
          </a:prstGeom>
          <a:gradFill rotWithShape="0">
            <a:gsLst>
              <a:gs pos="0">
                <a:srgbClr val="000099"/>
              </a:gs>
              <a:gs pos="100000">
                <a:schemeClr val="accent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033" tIns="45515" rIns="91033" bIns="45515" anchor="ctr"/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sz="2000" dirty="0">
              <a:solidFill>
                <a:srgbClr val="000000"/>
              </a:solidFill>
              <a:latin typeface="+mn-lt"/>
              <a:cs typeface="+mn-cs"/>
            </a:endParaRPr>
          </a:p>
        </p:txBody>
      </p:sp>
      <p:pic>
        <p:nvPicPr>
          <p:cNvPr id="3081" name="Picture 11" descr="chrmblue_std small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96852" y="128588"/>
            <a:ext cx="803275" cy="741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3505201" y="6589716"/>
            <a:ext cx="2155621" cy="2677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216" tIns="41117" rIns="82216" bIns="41117">
            <a:spAutoFit/>
          </a:bodyPr>
          <a:lstStyle/>
          <a:p>
            <a:pPr defTabSz="820634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i="1" dirty="0">
                <a:solidFill>
                  <a:srgbClr val="000066"/>
                </a:solidFill>
                <a:latin typeface="+mn-lt"/>
                <a:cs typeface="+mn-cs"/>
              </a:rPr>
              <a:t>Aim High…Fly - Fight - Win</a:t>
            </a:r>
            <a:endParaRPr lang="en-US" sz="1200" i="1" dirty="0">
              <a:solidFill>
                <a:srgbClr val="000000"/>
              </a:solidFill>
              <a:latin typeface="+mn-lt"/>
              <a:cs typeface="+mn-cs"/>
            </a:endParaRPr>
          </a:p>
        </p:txBody>
      </p:sp>
      <p:pic>
        <p:nvPicPr>
          <p:cNvPr id="14" name="Picture 17" descr="AFIT(good)"/>
          <p:cNvPicPr>
            <a:picLocks noChangeAspect="1" noChangeArrowheads="1"/>
          </p:cNvPicPr>
          <p:nvPr/>
        </p:nvPicPr>
        <p:blipFill>
          <a:blip r:embed="rId9" cstate="print"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7620000" y="152402"/>
            <a:ext cx="1447800" cy="694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2438401" y="901701"/>
            <a:ext cx="3976632" cy="28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3295" tIns="41647" rIns="83295" bIns="41647">
            <a:spAutoFit/>
          </a:bodyPr>
          <a:lstStyle/>
          <a:p>
            <a:pPr defTabSz="833074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1" i="1" dirty="0">
                <a:solidFill>
                  <a:srgbClr val="000066"/>
                </a:solidFill>
                <a:latin typeface="+mn-lt"/>
                <a:cs typeface="+mn-cs"/>
              </a:rPr>
              <a:t>The AFIT of Today is the Air Force of Tomorrow.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7010400" y="6492879"/>
            <a:ext cx="2133600" cy="365125"/>
          </a:xfrm>
          <a:prstGeom prst="rect">
            <a:avLst/>
          </a:prstGeom>
        </p:spPr>
        <p:txBody>
          <a:bodyPr vert="horz" lIns="91431" tIns="45715" rIns="91431" bIns="45715" rtlCol="0" anchor="ctr"/>
          <a:lstStyle>
            <a:lvl1pPr algn="r" eaLnBrk="0" hangingPunct="0">
              <a:defRPr sz="1200">
                <a:solidFill>
                  <a:srgbClr val="000000">
                    <a:tint val="75000"/>
                  </a:srgbClr>
                </a:solidFill>
                <a:latin typeface="+mn-lt"/>
                <a:cs typeface="+mn-cs"/>
              </a:defRPr>
            </a:lvl1pPr>
          </a:lstStyle>
          <a:p>
            <a:fld id="{949EBC64-41CB-41B8-B6DF-9B1367312B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302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53" r:id="rId3"/>
    <p:sldLayoutId id="2147483658" r:id="rId4"/>
    <p:sldLayoutId id="2147483726" r:id="rId5"/>
  </p:sldLayoutIdLst>
  <p:transition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Arial" charset="0"/>
        </a:defRPr>
      </a:lvl5pPr>
      <a:lvl6pPr marL="455214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Arial" charset="0"/>
        </a:defRPr>
      </a:lvl6pPr>
      <a:lvl7pPr marL="910428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Arial" charset="0"/>
        </a:defRPr>
      </a:lvl7pPr>
      <a:lvl8pPr marL="1365645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Arial" charset="0"/>
        </a:defRPr>
      </a:lvl8pPr>
      <a:lvl9pPr marL="1820857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folHlink"/>
          </a:solidFill>
          <a:latin typeface="Arial" charset="0"/>
        </a:defRPr>
      </a:lvl9pPr>
    </p:titleStyle>
    <p:bodyStyle>
      <a:lvl1pPr marL="330192" indent="-330192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28644" indent="-273044" algn="l" rtl="0" eaLnBrk="1" fontAlgn="base" hangingPunct="1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</a:defRPr>
      </a:lvl2pPr>
      <a:lvl3pPr marL="1128685" indent="-215895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3pPr>
      <a:lvl4pPr marL="1584286" indent="-215895" algn="l" rtl="0" eaLnBrk="1" fontAlgn="base" hangingPunct="1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</a:defRPr>
      </a:lvl4pPr>
      <a:lvl5pPr marL="2039888" indent="-215895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2503679" indent="-227609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58889" indent="-227609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14103" indent="-227609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69313" indent="-227609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0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5214" algn="l" defTabSz="910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0428" algn="l" defTabSz="910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5645" algn="l" defTabSz="910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0857" algn="l" defTabSz="910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76066" algn="l" defTabSz="910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1284" algn="l" defTabSz="910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86496" algn="l" defTabSz="910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41714" algn="l" defTabSz="910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afdatalab.af.mil/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Image result for AFIT Logo"/>
          <p:cNvSpPr>
            <a:spLocks noChangeAspect="1" noChangeArrowheads="1"/>
          </p:cNvSpPr>
          <p:nvPr/>
        </p:nvSpPr>
        <p:spPr bwMode="auto">
          <a:xfrm>
            <a:off x="0" y="-144462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263426" y="5133468"/>
            <a:ext cx="2771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Dr. Bruce Cox, Dr. Paul </a:t>
            </a:r>
            <a:r>
              <a:rPr lang="en-US" sz="1400" b="1" dirty="0" err="1"/>
              <a:t>Auclair</a:t>
            </a:r>
            <a:r>
              <a:rPr lang="en-US" sz="1400" b="1" dirty="0"/>
              <a:t> &amp; Dr. Torrey Wagner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278" y="1755145"/>
            <a:ext cx="86666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6">
                    <a:lumMod val="50000"/>
                  </a:schemeClr>
                </a:solidFill>
              </a:rPr>
              <a:t>CDO Vault and Databricks </a:t>
            </a:r>
            <a:endParaRPr lang="en-US" sz="3600" b="1" i="1" dirty="0"/>
          </a:p>
        </p:txBody>
      </p:sp>
      <p:sp>
        <p:nvSpPr>
          <p:cNvPr id="3" name="TextBox 2"/>
          <p:cNvSpPr txBox="1"/>
          <p:nvPr/>
        </p:nvSpPr>
        <p:spPr>
          <a:xfrm>
            <a:off x="2424100" y="3198085"/>
            <a:ext cx="42961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Or</a:t>
            </a:r>
          </a:p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br>
              <a:rPr lang="en-US" b="1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“How to store data and run Python </a:t>
            </a:r>
            <a:br>
              <a:rPr lang="en-US" b="1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in a secure environment”</a:t>
            </a:r>
          </a:p>
        </p:txBody>
      </p:sp>
      <p:pic>
        <p:nvPicPr>
          <p:cNvPr id="11" name="image1.png" descr="COA Coin COA Sid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6055" y="2782678"/>
            <a:ext cx="1183640" cy="1170940"/>
          </a:xfrm>
          <a:prstGeom prst="rect">
            <a:avLst/>
          </a:prstGeom>
        </p:spPr>
      </p:pic>
      <p:pic>
        <p:nvPicPr>
          <p:cNvPr id="13" name="image3.png" descr="J:\Parson\COA Coin AFIT Side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54669" y="2782678"/>
            <a:ext cx="1183640" cy="117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388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Image result for AFIT Logo"/>
          <p:cNvSpPr>
            <a:spLocks noChangeAspect="1" noChangeArrowheads="1"/>
          </p:cNvSpPr>
          <p:nvPr/>
        </p:nvSpPr>
        <p:spPr bwMode="auto">
          <a:xfrm>
            <a:off x="0" y="-144462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38665" y="1505763"/>
            <a:ext cx="866667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Part 1 (slides 3-11)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Requesting a VAULT account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Requesting access to the Databricks python environment</a:t>
            </a:r>
          </a:p>
          <a:p>
            <a:endParaRPr lang="en-US" sz="2400" b="1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Part 2 (slides 12-29)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Importing an existing .ipynb file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Importing a data file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Integration &amp; addressing common problems</a:t>
            </a:r>
            <a:endParaRPr lang="en-US" sz="2000" b="1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40430ECC-05FE-FB4B-B063-6D63CACA3E0B}"/>
              </a:ext>
            </a:extLst>
          </p:cNvPr>
          <p:cNvSpPr txBox="1">
            <a:spLocks/>
          </p:cNvSpPr>
          <p:nvPr/>
        </p:nvSpPr>
        <p:spPr bwMode="auto">
          <a:xfrm>
            <a:off x="628651" y="145913"/>
            <a:ext cx="7886700" cy="72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011" tIns="45506" rIns="91011" bIns="45506" numCol="1" anchor="b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folHlink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folHlink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folHlink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folHlink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folHlink"/>
                </a:solidFill>
                <a:latin typeface="Arial" charset="0"/>
              </a:defRPr>
            </a:lvl5pPr>
            <a:lvl6pPr marL="455214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folHlink"/>
                </a:solidFill>
                <a:latin typeface="Arial" charset="0"/>
              </a:defRPr>
            </a:lvl6pPr>
            <a:lvl7pPr marL="910428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folHlink"/>
                </a:solidFill>
                <a:latin typeface="Arial" charset="0"/>
              </a:defRPr>
            </a:lvl7pPr>
            <a:lvl8pPr marL="1365645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folHlink"/>
                </a:solidFill>
                <a:latin typeface="Arial" charset="0"/>
              </a:defRPr>
            </a:lvl8pPr>
            <a:lvl9pPr marL="1820857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folHlink"/>
                </a:solidFill>
                <a:latin typeface="Arial" charset="0"/>
              </a:defRPr>
            </a:lvl9pPr>
          </a:lstStyle>
          <a:p>
            <a:pPr defTabSz="914400"/>
            <a:r>
              <a:rPr lang="en-US" altLang="en-US" sz="4400" kern="0"/>
              <a:t>Outline</a:t>
            </a: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3630120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CC708-3DA0-46DE-9FAE-76D561990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96" y="0"/>
            <a:ext cx="9086849" cy="1028700"/>
          </a:xfrm>
        </p:spPr>
        <p:txBody>
          <a:bodyPr/>
          <a:lstStyle/>
          <a:p>
            <a:r>
              <a:rPr lang="en-US" dirty="0"/>
              <a:t>Motivation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7B964-630E-4F86-B5C3-E5E6B5309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03903" y="0"/>
            <a:ext cx="0" cy="0"/>
          </a:xfrm>
        </p:spPr>
        <p:txBody>
          <a:bodyPr/>
          <a:lstStyle/>
          <a:p>
            <a:endParaRPr lang="en-US" sz="2400" dirty="0"/>
          </a:p>
          <a:p>
            <a:endParaRPr lang="en-US" dirty="0"/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D68833-4237-4011-ADBF-7EB2F07AA1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1497" y="4657544"/>
            <a:ext cx="2340367" cy="14668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5D8C27-5C27-4041-BC86-0F92B0D725F6}"/>
              </a:ext>
            </a:extLst>
          </p:cNvPr>
          <p:cNvSpPr txBox="1"/>
          <p:nvPr/>
        </p:nvSpPr>
        <p:spPr>
          <a:xfrm>
            <a:off x="4753897" y="5921715"/>
            <a:ext cx="228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/>
              <a:t>Chief Data Officer – Real Picture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59DDEF-0D56-4CE9-AFE7-DCA550A8473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071" y="5257800"/>
            <a:ext cx="1490663" cy="919210"/>
          </a:xfrm>
          <a:prstGeom prst="rect">
            <a:avLst/>
          </a:prstGeom>
        </p:spPr>
      </p:pic>
      <p:pic>
        <p:nvPicPr>
          <p:cNvPr id="10" name="Picture 9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CD1C0E1C-9BB7-471E-B562-B5E9DF5D3C0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4153" y="5730379"/>
            <a:ext cx="1597818" cy="382671"/>
          </a:xfrm>
          <a:prstGeom prst="rect">
            <a:avLst/>
          </a:prstGeom>
        </p:spPr>
      </p:pic>
      <p:sp>
        <p:nvSpPr>
          <p:cNvPr id="9" name="Vertical Text Placeholder 4">
            <a:extLst>
              <a:ext uri="{FF2B5EF4-FFF2-40B4-BE49-F238E27FC236}">
                <a16:creationId xmlns:a16="http://schemas.microsoft.com/office/drawing/2014/main" id="{B0F5CA4C-20F5-4642-830D-03C1DAE25BC1}"/>
              </a:ext>
            </a:extLst>
          </p:cNvPr>
          <p:cNvSpPr txBox="1">
            <a:spLocks/>
          </p:cNvSpPr>
          <p:nvPr/>
        </p:nvSpPr>
        <p:spPr>
          <a:xfrm>
            <a:off x="58070" y="1800108"/>
            <a:ext cx="9029699" cy="329818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330192" indent="-330192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8644" indent="-27304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n-lt"/>
              </a:defRPr>
            </a:lvl2pPr>
            <a:lvl3pPr marL="1128685" indent="-21589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1584286" indent="-215895" algn="l" rtl="0" eaLnBrk="1" fontAlgn="base" hangingPunct="1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 marL="2039888" indent="-215895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5pPr>
            <a:lvl6pPr marL="2503679" indent="-22760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58889" indent="-22760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14103" indent="-22760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69313" indent="-22760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defTabSz="914400"/>
            <a:r>
              <a:rPr lang="en-US" sz="2000" kern="0" dirty="0"/>
              <a:t>You can now (or will be able to) perform numerous data analysis techniques using Python, and likely used Python on your home computer or a web service like Google Colaboratory</a:t>
            </a:r>
          </a:p>
          <a:p>
            <a:pPr lvl="1" defTabSz="914400"/>
            <a:r>
              <a:rPr lang="en-US" sz="1800" kern="0" dirty="0"/>
              <a:t>However, these environments can’t process CUI, PII or classified data</a:t>
            </a:r>
          </a:p>
          <a:p>
            <a:pPr lvl="1" defTabSz="914400"/>
            <a:r>
              <a:rPr lang="en-US" sz="1800" kern="0" dirty="0"/>
              <a:t>A natural question is “How does this help me at work?”</a:t>
            </a:r>
          </a:p>
          <a:p>
            <a:pPr defTabSz="914400"/>
            <a:r>
              <a:rPr lang="en-US" sz="2000" kern="0" dirty="0"/>
              <a:t>This is where the CDO (Chief Data Officer) Vault swoops in to save the day</a:t>
            </a:r>
          </a:p>
        </p:txBody>
      </p:sp>
    </p:spTree>
    <p:extLst>
      <p:ext uri="{BB962C8B-B14F-4D97-AF65-F5344CB8AC3E}">
        <p14:creationId xmlns:p14="http://schemas.microsoft.com/office/powerpoint/2010/main" val="4023393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Vertical Text Placeholder 4"/>
          <p:cNvSpPr>
            <a:spLocks noGrp="1"/>
          </p:cNvSpPr>
          <p:nvPr>
            <p:ph type="body" orient="vert" idx="1"/>
          </p:nvPr>
        </p:nvSpPr>
        <p:spPr>
          <a:xfrm rot="16200000">
            <a:off x="2271144" y="-514350"/>
            <a:ext cx="4236716" cy="7886700"/>
          </a:xfrm>
          <a:solidFill>
            <a:schemeClr val="bg1">
              <a:alpha val="72000"/>
            </a:schemeClr>
          </a:solidFill>
        </p:spPr>
        <p:txBody>
          <a:bodyPr/>
          <a:lstStyle/>
          <a:p>
            <a:pPr eaLnBrk="1" hangingPunct="1"/>
            <a:r>
              <a:rPr lang="en-US" altLang="en-US" dirty="0"/>
              <a:t>On a NIPR computer (or VDI into a .mil network): </a:t>
            </a:r>
          </a:p>
          <a:p>
            <a:pPr lvl="1"/>
            <a:r>
              <a:rPr lang="en-US" dirty="0"/>
              <a:t>Navigate to: </a:t>
            </a:r>
            <a:r>
              <a:rPr lang="en-US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https://afdatalab.af.mil</a:t>
            </a:r>
            <a:endParaRPr lang="en-US" altLang="en-US" dirty="0">
              <a:solidFill>
                <a:srgbClr val="0070C0"/>
              </a:solidFill>
            </a:endParaRPr>
          </a:p>
          <a:p>
            <a:pPr lvl="1"/>
            <a:r>
              <a:rPr lang="en-US" dirty="0"/>
              <a:t>Select </a:t>
            </a:r>
            <a:r>
              <a:rPr lang="en-US" dirty="0">
                <a:solidFill>
                  <a:srgbClr val="FF0000"/>
                </a:solidFill>
              </a:rPr>
              <a:t>DOD ID certificate </a:t>
            </a:r>
            <a:r>
              <a:rPr lang="en-US" dirty="0"/>
              <a:t>to authenticate</a:t>
            </a:r>
          </a:p>
          <a:p>
            <a:pPr lvl="1"/>
            <a:r>
              <a:rPr lang="en-US" dirty="0"/>
              <a:t>Create a new account</a:t>
            </a:r>
          </a:p>
          <a:p>
            <a:pPr lvl="1"/>
            <a:r>
              <a:rPr lang="en-US" dirty="0"/>
              <a:t>When the new account is created, use the Help Desk tile to request access to the “AFAC” tenant.</a:t>
            </a:r>
          </a:p>
          <a:p>
            <a:pPr lvl="1"/>
            <a:r>
              <a:rPr lang="en-US" dirty="0"/>
              <a:t>The User Interface (UI) tends to change (improve) over time, but the basic steps remain the same.</a:t>
            </a:r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651" y="145913"/>
            <a:ext cx="7886700" cy="727075"/>
          </a:xfrm>
        </p:spPr>
        <p:txBody>
          <a:bodyPr/>
          <a:lstStyle/>
          <a:p>
            <a:r>
              <a:rPr lang="en-US" altLang="en-US" dirty="0"/>
              <a:t>Request Access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77690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56BA2D-6FEB-488F-84C2-C176A9FA8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9965"/>
            <a:ext cx="7886700" cy="727075"/>
          </a:xfrm>
        </p:spPr>
        <p:txBody>
          <a:bodyPr/>
          <a:lstStyle/>
          <a:p>
            <a:r>
              <a:rPr lang="en-US" dirty="0"/>
              <a:t>Request Access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65F901-A0A2-4675-87E1-18DF1F59B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5856"/>
            <a:ext cx="9144000" cy="4146288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68B4AB26-E5A9-4E4F-8B43-F2E7913C0214}"/>
              </a:ext>
            </a:extLst>
          </p:cNvPr>
          <p:cNvSpPr/>
          <p:nvPr/>
        </p:nvSpPr>
        <p:spPr bwMode="auto">
          <a:xfrm>
            <a:off x="0" y="2382473"/>
            <a:ext cx="1434517" cy="528507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776F7E-ECAB-49F8-B80C-C8D55A64A156}"/>
              </a:ext>
            </a:extLst>
          </p:cNvPr>
          <p:cNvSpPr txBox="1"/>
          <p:nvPr/>
        </p:nvSpPr>
        <p:spPr>
          <a:xfrm>
            <a:off x="1635854" y="2228671"/>
            <a:ext cx="72061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When you log on for the first time, your screen will look like this.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Click on “Help Desk &amp; Requests”</a:t>
            </a:r>
          </a:p>
        </p:txBody>
      </p:sp>
    </p:spTree>
    <p:extLst>
      <p:ext uri="{BB962C8B-B14F-4D97-AF65-F5344CB8AC3E}">
        <p14:creationId xmlns:p14="http://schemas.microsoft.com/office/powerpoint/2010/main" val="187501822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9D7A18A-86E6-42C7-8D0B-80FCC5D31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42613"/>
            <a:ext cx="7886700" cy="755010"/>
          </a:xfrm>
        </p:spPr>
        <p:txBody>
          <a:bodyPr/>
          <a:lstStyle/>
          <a:p>
            <a:r>
              <a:rPr lang="en-US" dirty="0"/>
              <a:t>Request Access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1D6836-5666-4BBA-B876-218BD91C3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8139"/>
            <a:ext cx="9144000" cy="45417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88DE2C-0D45-404C-B035-13E6D617427E}"/>
              </a:ext>
            </a:extLst>
          </p:cNvPr>
          <p:cNvSpPr txBox="1"/>
          <p:nvPr/>
        </p:nvSpPr>
        <p:spPr>
          <a:xfrm>
            <a:off x="2306970" y="2910063"/>
            <a:ext cx="411899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bg1"/>
                </a:solidFill>
              </a:rPr>
              <a:t>Select “Browse Access Requests”</a:t>
            </a:r>
          </a:p>
          <a:p>
            <a:pPr algn="ctr"/>
            <a:r>
              <a:rPr lang="en-US" sz="1500" b="1" dirty="0">
                <a:solidFill>
                  <a:schemeClr val="bg1"/>
                </a:solidFill>
              </a:rPr>
              <a:t>from the</a:t>
            </a:r>
          </a:p>
          <a:p>
            <a:pPr algn="ctr"/>
            <a:r>
              <a:rPr lang="en-US" sz="1500" b="1" dirty="0">
                <a:solidFill>
                  <a:schemeClr val="bg1"/>
                </a:solidFill>
              </a:rPr>
              <a:t>VAULT ASSET Requests pulldown menu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C7A5F20-B6F8-4930-ACEB-8725BDA66038}"/>
              </a:ext>
            </a:extLst>
          </p:cNvPr>
          <p:cNvSpPr/>
          <p:nvPr/>
        </p:nvSpPr>
        <p:spPr bwMode="auto">
          <a:xfrm>
            <a:off x="511204" y="1585519"/>
            <a:ext cx="1240173" cy="469783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7FC772D-8AD1-435F-BA75-7BB7C083C208}"/>
              </a:ext>
            </a:extLst>
          </p:cNvPr>
          <p:cNvSpPr/>
          <p:nvPr/>
        </p:nvSpPr>
        <p:spPr bwMode="auto">
          <a:xfrm>
            <a:off x="628650" y="2872771"/>
            <a:ext cx="1240173" cy="469783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532087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5710DF9-A977-4DEB-B24F-4B022ACD0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71" y="136743"/>
            <a:ext cx="7886700" cy="727075"/>
          </a:xfrm>
        </p:spPr>
        <p:txBody>
          <a:bodyPr/>
          <a:lstStyle/>
          <a:p>
            <a:r>
              <a:rPr lang="en-US" dirty="0"/>
              <a:t>Request Access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B973449-8DB7-4738-91C1-9ECF7BC91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07" y="1160651"/>
            <a:ext cx="9144000" cy="4993895"/>
          </a:xfrm>
          <a:prstGeom prst="rect">
            <a:avLst/>
          </a:prstGeom>
        </p:spPr>
      </p:pic>
      <p:sp>
        <p:nvSpPr>
          <p:cNvPr id="23" name="Oval 22">
            <a:extLst>
              <a:ext uri="{FF2B5EF4-FFF2-40B4-BE49-F238E27FC236}">
                <a16:creationId xmlns:a16="http://schemas.microsoft.com/office/drawing/2014/main" id="{97FEEB6F-CD55-473A-A4CC-3AD412F108FD}"/>
              </a:ext>
            </a:extLst>
          </p:cNvPr>
          <p:cNvSpPr/>
          <p:nvPr/>
        </p:nvSpPr>
        <p:spPr bwMode="auto">
          <a:xfrm>
            <a:off x="2231472" y="4278385"/>
            <a:ext cx="1233181" cy="947956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65E6ED-3913-4925-ACEB-8C4512505B43}"/>
              </a:ext>
            </a:extLst>
          </p:cNvPr>
          <p:cNvSpPr txBox="1"/>
          <p:nvPr/>
        </p:nvSpPr>
        <p:spPr>
          <a:xfrm>
            <a:off x="42207" y="3657599"/>
            <a:ext cx="26430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 request access</a:t>
            </a:r>
          </a:p>
          <a:p>
            <a:r>
              <a:rPr lang="en-US" dirty="0"/>
              <a:t>to applications hosted on an existing tenant.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AF2B40-98F2-4AB8-BCDD-D86EE9544D8D}"/>
              </a:ext>
            </a:extLst>
          </p:cNvPr>
          <p:cNvSpPr txBox="1"/>
          <p:nvPr/>
        </p:nvSpPr>
        <p:spPr>
          <a:xfrm>
            <a:off x="42207" y="1779411"/>
            <a:ext cx="43785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You’ll make two </a:t>
            </a:r>
          </a:p>
          <a:p>
            <a:r>
              <a:rPr lang="en-US" dirty="0"/>
              <a:t>requests from</a:t>
            </a:r>
          </a:p>
          <a:p>
            <a:r>
              <a:rPr lang="en-US" dirty="0"/>
              <a:t>this page</a:t>
            </a:r>
          </a:p>
        </p:txBody>
      </p:sp>
    </p:spTree>
    <p:extLst>
      <p:ext uri="{BB962C8B-B14F-4D97-AF65-F5344CB8AC3E}">
        <p14:creationId xmlns:p14="http://schemas.microsoft.com/office/powerpoint/2010/main" val="173861580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F9F0DA4-15C1-4D12-8D27-A144D09E7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4558"/>
            <a:ext cx="7886700" cy="704675"/>
          </a:xfrm>
        </p:spPr>
        <p:txBody>
          <a:bodyPr/>
          <a:lstStyle/>
          <a:p>
            <a:r>
              <a:rPr lang="en-US" dirty="0"/>
              <a:t>Request Access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68003B-C371-4D19-A3A8-EE2900EC9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2098"/>
            <a:ext cx="9144000" cy="4353803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F8ACA1D-DD69-4068-B2CF-76E371AD93F1}"/>
              </a:ext>
            </a:extLst>
          </p:cNvPr>
          <p:cNvSpPr/>
          <p:nvPr/>
        </p:nvSpPr>
        <p:spPr bwMode="auto">
          <a:xfrm>
            <a:off x="2533475" y="3338818"/>
            <a:ext cx="402672" cy="234892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16CC078-3D96-4FBC-A692-7F5CBE752CA0}"/>
              </a:ext>
            </a:extLst>
          </p:cNvPr>
          <p:cNvSpPr/>
          <p:nvPr/>
        </p:nvSpPr>
        <p:spPr bwMode="auto">
          <a:xfrm>
            <a:off x="2323750" y="3640822"/>
            <a:ext cx="780178" cy="352338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A375F6B-1A8B-419B-80D6-0A9C4569965D}"/>
              </a:ext>
            </a:extLst>
          </p:cNvPr>
          <p:cNvSpPr/>
          <p:nvPr/>
        </p:nvSpPr>
        <p:spPr bwMode="auto">
          <a:xfrm>
            <a:off x="5705910" y="2367094"/>
            <a:ext cx="1114339" cy="493552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98459E-8185-48CB-9444-02F2A338E1D2}"/>
              </a:ext>
            </a:extLst>
          </p:cNvPr>
          <p:cNvSpPr txBox="1"/>
          <p:nvPr/>
        </p:nvSpPr>
        <p:spPr>
          <a:xfrm>
            <a:off x="5640224" y="3559458"/>
            <a:ext cx="350377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3. Wait.  It could be up to a </a:t>
            </a:r>
          </a:p>
          <a:p>
            <a:r>
              <a:rPr lang="en-US" dirty="0"/>
              <a:t>day before you get Databricks added to your account.</a:t>
            </a:r>
          </a:p>
          <a:p>
            <a:endParaRPr lang="en-US" dirty="0"/>
          </a:p>
          <a:p>
            <a:r>
              <a:rPr lang="en-US" dirty="0"/>
              <a:t>There is no cost to you or </a:t>
            </a:r>
          </a:p>
          <a:p>
            <a:r>
              <a:rPr lang="en-US" dirty="0"/>
              <a:t>your organization.  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A5967B-FDBE-4DA0-BA45-C0B6FE77AC30}"/>
              </a:ext>
            </a:extLst>
          </p:cNvPr>
          <p:cNvSpPr txBox="1"/>
          <p:nvPr/>
        </p:nvSpPr>
        <p:spPr>
          <a:xfrm>
            <a:off x="260056" y="3179157"/>
            <a:ext cx="21056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Select the AFAC tenant and desired networks.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4D8546-F759-4791-BD03-CCB7F0BE97CC}"/>
              </a:ext>
            </a:extLst>
          </p:cNvPr>
          <p:cNvSpPr txBox="1"/>
          <p:nvPr/>
        </p:nvSpPr>
        <p:spPr>
          <a:xfrm>
            <a:off x="6996413" y="2367094"/>
            <a:ext cx="24076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Add to Cart</a:t>
            </a:r>
          </a:p>
          <a:p>
            <a:r>
              <a:rPr lang="en-US" dirty="0"/>
              <a:t>and Submit.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23166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5710DF9-A977-4DEB-B24F-4B022ACD0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71" y="136743"/>
            <a:ext cx="7886700" cy="727075"/>
          </a:xfrm>
        </p:spPr>
        <p:txBody>
          <a:bodyPr/>
          <a:lstStyle/>
          <a:p>
            <a:r>
              <a:rPr lang="en-US" dirty="0"/>
              <a:t>Request Access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B973449-8DB7-4738-91C1-9ECF7BC91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7096"/>
            <a:ext cx="9144000" cy="4993895"/>
          </a:xfrm>
          <a:prstGeom prst="rect">
            <a:avLst/>
          </a:prstGeom>
        </p:spPr>
      </p:pic>
      <p:sp>
        <p:nvSpPr>
          <p:cNvPr id="23" name="Oval 22">
            <a:extLst>
              <a:ext uri="{FF2B5EF4-FFF2-40B4-BE49-F238E27FC236}">
                <a16:creationId xmlns:a16="http://schemas.microsoft.com/office/drawing/2014/main" id="{97FEEB6F-CD55-473A-A4CC-3AD412F108FD}"/>
              </a:ext>
            </a:extLst>
          </p:cNvPr>
          <p:cNvSpPr/>
          <p:nvPr/>
        </p:nvSpPr>
        <p:spPr bwMode="auto">
          <a:xfrm>
            <a:off x="4488115" y="3624043"/>
            <a:ext cx="1233181" cy="947956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65E6ED-3913-4925-ACEB-8C4512505B43}"/>
              </a:ext>
            </a:extLst>
          </p:cNvPr>
          <p:cNvSpPr txBox="1"/>
          <p:nvPr/>
        </p:nvSpPr>
        <p:spPr>
          <a:xfrm>
            <a:off x="117449" y="3429000"/>
            <a:ext cx="32465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Return to this page</a:t>
            </a:r>
          </a:p>
          <a:p>
            <a:r>
              <a:rPr lang="en-US" dirty="0"/>
              <a:t>and  request access</a:t>
            </a:r>
          </a:p>
          <a:p>
            <a:r>
              <a:rPr lang="en-US" dirty="0"/>
              <a:t>to Databricks.</a:t>
            </a:r>
          </a:p>
        </p:txBody>
      </p:sp>
    </p:spTree>
    <p:extLst>
      <p:ext uri="{BB962C8B-B14F-4D97-AF65-F5344CB8AC3E}">
        <p14:creationId xmlns:p14="http://schemas.microsoft.com/office/powerpoint/2010/main" val="232422186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F1F6943-EE2E-437F-BD80-90E75BF39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6170"/>
            <a:ext cx="7886700" cy="679507"/>
          </a:xfrm>
        </p:spPr>
        <p:txBody>
          <a:bodyPr/>
          <a:lstStyle/>
          <a:p>
            <a:r>
              <a:rPr lang="en-US" dirty="0"/>
              <a:t>Request Access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1DC0FD-A387-4C8D-956E-30082B6E3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1963"/>
            <a:ext cx="9144000" cy="443407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CDFCCD6-A140-4EC1-81C7-6E237F09AAB5}"/>
              </a:ext>
            </a:extLst>
          </p:cNvPr>
          <p:cNvSpPr/>
          <p:nvPr/>
        </p:nvSpPr>
        <p:spPr bwMode="auto">
          <a:xfrm>
            <a:off x="5452844" y="2080469"/>
            <a:ext cx="1451295" cy="1409351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21BF76-F39B-43FD-A5EF-188776E1D467}"/>
              </a:ext>
            </a:extLst>
          </p:cNvPr>
          <p:cNvSpPr txBox="1"/>
          <p:nvPr/>
        </p:nvSpPr>
        <p:spPr>
          <a:xfrm>
            <a:off x="2054648" y="3891711"/>
            <a:ext cx="484949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to Cart and Order now.</a:t>
            </a:r>
          </a:p>
          <a:p>
            <a:endParaRPr lang="en-US" dirty="0"/>
          </a:p>
          <a:p>
            <a:r>
              <a:rPr lang="en-US" dirty="0"/>
              <a:t>Wait.  It could be up to a day before you get Databricks added to your account.</a:t>
            </a:r>
          </a:p>
          <a:p>
            <a:endParaRPr lang="en-US" dirty="0"/>
          </a:p>
          <a:p>
            <a:r>
              <a:rPr lang="en-US" dirty="0"/>
              <a:t>There is no cost to you or your organization.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38115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2E802A-245D-41E5-8CD7-9738B4D03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4507"/>
            <a:ext cx="9144000" cy="4508986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651" y="145913"/>
            <a:ext cx="7886700" cy="727075"/>
          </a:xfrm>
        </p:spPr>
        <p:txBody>
          <a:bodyPr/>
          <a:lstStyle/>
          <a:p>
            <a:r>
              <a:rPr lang="en-US" altLang="en-US" dirty="0"/>
              <a:t>Databricks Home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0109AB-468F-499E-8B6B-49A4FD048002}"/>
              </a:ext>
            </a:extLst>
          </p:cNvPr>
          <p:cNvSpPr txBox="1"/>
          <p:nvPr/>
        </p:nvSpPr>
        <p:spPr>
          <a:xfrm>
            <a:off x="2617904" y="4321984"/>
            <a:ext cx="43910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Once Databricks is added to your account you will see a Databricks Tile on your home screen.  Click it and you end up here.</a:t>
            </a:r>
          </a:p>
          <a:p>
            <a:endParaRPr lang="en-US" dirty="0"/>
          </a:p>
          <a:p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BF36D14-5749-4BD9-99DF-6F61B6788662}"/>
              </a:ext>
            </a:extLst>
          </p:cNvPr>
          <p:cNvSpPr/>
          <p:nvPr/>
        </p:nvSpPr>
        <p:spPr bwMode="auto">
          <a:xfrm>
            <a:off x="3343276" y="1762124"/>
            <a:ext cx="2524124" cy="1552575"/>
          </a:xfrm>
          <a:prstGeom prst="ellipse">
            <a:avLst/>
          </a:prstGeom>
          <a:noFill/>
          <a:ln w="349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7C8773B-A7A2-452E-BF20-D0EE245EBAAB}"/>
              </a:ext>
            </a:extLst>
          </p:cNvPr>
          <p:cNvSpPr/>
          <p:nvPr/>
        </p:nvSpPr>
        <p:spPr bwMode="auto">
          <a:xfrm>
            <a:off x="6381751" y="1762124"/>
            <a:ext cx="2524124" cy="1552575"/>
          </a:xfrm>
          <a:prstGeom prst="ellipse">
            <a:avLst/>
          </a:prstGeom>
          <a:noFill/>
          <a:ln w="349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325885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Image result for AFIT Logo"/>
          <p:cNvSpPr>
            <a:spLocks noChangeAspect="1" noChangeArrowheads="1"/>
          </p:cNvSpPr>
          <p:nvPr/>
        </p:nvSpPr>
        <p:spPr bwMode="auto">
          <a:xfrm>
            <a:off x="0" y="-144462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30278" y="1755145"/>
            <a:ext cx="866667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6">
                    <a:lumMod val="50000"/>
                  </a:schemeClr>
                </a:solidFill>
              </a:rPr>
              <a:t>Importing an existing .ipynb file, </a:t>
            </a:r>
          </a:p>
          <a:p>
            <a:r>
              <a:rPr lang="en-US" sz="4000" b="1" dirty="0">
                <a:solidFill>
                  <a:schemeClr val="accent6">
                    <a:lumMod val="50000"/>
                  </a:schemeClr>
                </a:solidFill>
              </a:rPr>
              <a:t>Importing a data file, </a:t>
            </a:r>
          </a:p>
          <a:p>
            <a:r>
              <a:rPr lang="en-US" sz="4000" b="1" dirty="0">
                <a:solidFill>
                  <a:schemeClr val="accent6">
                    <a:lumMod val="50000"/>
                  </a:schemeClr>
                </a:solidFill>
              </a:rPr>
              <a:t>Integration of datafile</a:t>
            </a:r>
          </a:p>
          <a:p>
            <a:r>
              <a:rPr lang="en-US" sz="4000" b="1" dirty="0">
                <a:solidFill>
                  <a:schemeClr val="accent6">
                    <a:lumMod val="50000"/>
                  </a:schemeClr>
                </a:solidFill>
              </a:rPr>
              <a:t>Addressing common problems</a:t>
            </a:r>
            <a:endParaRPr lang="en-US" sz="3600" b="1" i="1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A28AF8F9-3820-F04F-95F5-C083F6DB84D4}"/>
              </a:ext>
            </a:extLst>
          </p:cNvPr>
          <p:cNvSpPr txBox="1">
            <a:spLocks/>
          </p:cNvSpPr>
          <p:nvPr/>
        </p:nvSpPr>
        <p:spPr bwMode="auto">
          <a:xfrm>
            <a:off x="628651" y="145913"/>
            <a:ext cx="7886700" cy="72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011" tIns="45506" rIns="91011" bIns="45506" numCol="1" anchor="b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folHlink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folHlink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folHlink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folHlink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folHlink"/>
                </a:solidFill>
                <a:latin typeface="Arial" charset="0"/>
              </a:defRPr>
            </a:lvl5pPr>
            <a:lvl6pPr marL="455214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folHlink"/>
                </a:solidFill>
                <a:latin typeface="Arial" charset="0"/>
              </a:defRPr>
            </a:lvl6pPr>
            <a:lvl7pPr marL="910428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folHlink"/>
                </a:solidFill>
                <a:latin typeface="Arial" charset="0"/>
              </a:defRPr>
            </a:lvl7pPr>
            <a:lvl8pPr marL="1365645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folHlink"/>
                </a:solidFill>
                <a:latin typeface="Arial" charset="0"/>
              </a:defRPr>
            </a:lvl8pPr>
            <a:lvl9pPr marL="1820857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folHlink"/>
                </a:solidFill>
                <a:latin typeface="Arial" charset="0"/>
              </a:defRPr>
            </a:lvl9pPr>
          </a:lstStyle>
          <a:p>
            <a:pPr defTabSz="914400"/>
            <a:r>
              <a:rPr lang="en-US" altLang="en-US" sz="4400" kern="0" dirty="0"/>
              <a:t>Part 2</a:t>
            </a:r>
            <a:endParaRPr lang="en-US" sz="4400" kern="0" dirty="0"/>
          </a:p>
        </p:txBody>
      </p:sp>
    </p:spTree>
    <p:extLst>
      <p:ext uri="{BB962C8B-B14F-4D97-AF65-F5344CB8AC3E}">
        <p14:creationId xmlns:p14="http://schemas.microsoft.com/office/powerpoint/2010/main" val="3010247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Image result for AFIT Logo"/>
          <p:cNvSpPr>
            <a:spLocks noChangeAspect="1" noChangeArrowheads="1"/>
          </p:cNvSpPr>
          <p:nvPr/>
        </p:nvSpPr>
        <p:spPr bwMode="auto">
          <a:xfrm>
            <a:off x="0" y="-144462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30278" y="1755145"/>
            <a:ext cx="866667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6">
                    <a:lumMod val="50000"/>
                  </a:schemeClr>
                </a:solidFill>
              </a:rPr>
              <a:t>Importing an existing .ipynb file, </a:t>
            </a:r>
          </a:p>
          <a:p>
            <a:r>
              <a:rPr lang="en-US" sz="4000" b="1" dirty="0">
                <a:solidFill>
                  <a:schemeClr val="bg1">
                    <a:lumMod val="50000"/>
                  </a:schemeClr>
                </a:solidFill>
              </a:rPr>
              <a:t>Importing a data file, </a:t>
            </a:r>
          </a:p>
          <a:p>
            <a:r>
              <a:rPr lang="en-US" sz="4000" b="1" dirty="0">
                <a:solidFill>
                  <a:schemeClr val="bg1">
                    <a:lumMod val="50000"/>
                  </a:schemeClr>
                </a:solidFill>
              </a:rPr>
              <a:t>Integration of datafile</a:t>
            </a:r>
          </a:p>
          <a:p>
            <a:r>
              <a:rPr lang="en-US" sz="4000" b="1" dirty="0">
                <a:solidFill>
                  <a:schemeClr val="bg1">
                    <a:lumMod val="50000"/>
                  </a:schemeClr>
                </a:solidFill>
              </a:rPr>
              <a:t>Addressing common problems</a:t>
            </a:r>
            <a:endParaRPr lang="en-US" sz="36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3996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651" y="145913"/>
            <a:ext cx="7886700" cy="727075"/>
          </a:xfrm>
        </p:spPr>
        <p:txBody>
          <a:bodyPr/>
          <a:lstStyle/>
          <a:p>
            <a:r>
              <a:rPr lang="en-US" altLang="en-US" dirty="0"/>
              <a:t>Import a .ipynb file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0109AB-468F-499E-8B6B-49A4FD048002}"/>
              </a:ext>
            </a:extLst>
          </p:cNvPr>
          <p:cNvSpPr txBox="1"/>
          <p:nvPr/>
        </p:nvSpPr>
        <p:spPr>
          <a:xfrm>
            <a:off x="288779" y="1208175"/>
            <a:ext cx="43910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 into VAULT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Click on Databricks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Click on Workspace (left side)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Note your username (bottom left)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45AE24-205A-A94C-AAB4-E8C83BAA2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653" y="2408504"/>
            <a:ext cx="6434051" cy="3991378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4069C633-06C0-1344-A7E2-02B5FD813AAD}"/>
              </a:ext>
            </a:extLst>
          </p:cNvPr>
          <p:cNvSpPr/>
          <p:nvPr/>
        </p:nvSpPr>
        <p:spPr bwMode="auto">
          <a:xfrm>
            <a:off x="839584" y="2972264"/>
            <a:ext cx="1120833" cy="371994"/>
          </a:xfrm>
          <a:prstGeom prst="ellipse">
            <a:avLst/>
          </a:prstGeom>
          <a:noFill/>
          <a:ln w="349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98595A7-BF49-A84A-90CE-70BEB6498FE0}"/>
              </a:ext>
            </a:extLst>
          </p:cNvPr>
          <p:cNvSpPr/>
          <p:nvPr/>
        </p:nvSpPr>
        <p:spPr bwMode="auto">
          <a:xfrm>
            <a:off x="917170" y="6100620"/>
            <a:ext cx="1120833" cy="371994"/>
          </a:xfrm>
          <a:prstGeom prst="ellipse">
            <a:avLst/>
          </a:prstGeom>
          <a:noFill/>
          <a:ln w="349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7791640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651" y="145913"/>
            <a:ext cx="7886700" cy="727075"/>
          </a:xfrm>
        </p:spPr>
        <p:txBody>
          <a:bodyPr/>
          <a:lstStyle/>
          <a:p>
            <a:r>
              <a:rPr lang="en-US" altLang="en-US" dirty="0"/>
              <a:t>Import a .ipynb file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0109AB-468F-499E-8B6B-49A4FD048002}"/>
              </a:ext>
            </a:extLst>
          </p:cNvPr>
          <p:cNvSpPr txBox="1"/>
          <p:nvPr/>
        </p:nvSpPr>
        <p:spPr>
          <a:xfrm>
            <a:off x="288779" y="1208175"/>
            <a:ext cx="82265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Click on Workspace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Click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Find your folder (should be on top and match your username on last slide)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Click the dropdown arrow by your folder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Click Import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AC3398-5759-944D-9015-87C6BD734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1" y="3045711"/>
            <a:ext cx="7464568" cy="2984137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4069C633-06C0-1344-A7E2-02B5FD813AAD}"/>
              </a:ext>
            </a:extLst>
          </p:cNvPr>
          <p:cNvSpPr/>
          <p:nvPr/>
        </p:nvSpPr>
        <p:spPr bwMode="auto">
          <a:xfrm>
            <a:off x="706321" y="4351782"/>
            <a:ext cx="1120833" cy="371994"/>
          </a:xfrm>
          <a:prstGeom prst="ellipse">
            <a:avLst/>
          </a:prstGeom>
          <a:noFill/>
          <a:ln w="349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B23D58F-DA79-3E4A-B56C-8397B495E354}"/>
              </a:ext>
            </a:extLst>
          </p:cNvPr>
          <p:cNvSpPr/>
          <p:nvPr/>
        </p:nvSpPr>
        <p:spPr bwMode="auto">
          <a:xfrm>
            <a:off x="6253681" y="4427428"/>
            <a:ext cx="1120833" cy="371994"/>
          </a:xfrm>
          <a:prstGeom prst="ellipse">
            <a:avLst/>
          </a:prstGeom>
          <a:noFill/>
          <a:ln w="349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56C9912-3F97-B341-9670-E66C998D1A65}"/>
              </a:ext>
            </a:extLst>
          </p:cNvPr>
          <p:cNvSpPr/>
          <p:nvPr/>
        </p:nvSpPr>
        <p:spPr bwMode="auto">
          <a:xfrm>
            <a:off x="2282968" y="4014840"/>
            <a:ext cx="1120833" cy="371994"/>
          </a:xfrm>
          <a:prstGeom prst="ellipse">
            <a:avLst/>
          </a:prstGeom>
          <a:noFill/>
          <a:ln w="349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205C8AD-792A-044F-9CEA-35020300DF9F}"/>
              </a:ext>
            </a:extLst>
          </p:cNvPr>
          <p:cNvSpPr/>
          <p:nvPr/>
        </p:nvSpPr>
        <p:spPr bwMode="auto">
          <a:xfrm>
            <a:off x="4607761" y="3762410"/>
            <a:ext cx="2300115" cy="371994"/>
          </a:xfrm>
          <a:prstGeom prst="ellipse">
            <a:avLst/>
          </a:prstGeom>
          <a:noFill/>
          <a:ln w="349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5443211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651" y="145913"/>
            <a:ext cx="7886700" cy="727075"/>
          </a:xfrm>
        </p:spPr>
        <p:txBody>
          <a:bodyPr/>
          <a:lstStyle/>
          <a:p>
            <a:r>
              <a:rPr lang="en-US" altLang="en-US" dirty="0"/>
              <a:t>Import a .ipynb file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0109AB-468F-499E-8B6B-49A4FD048002}"/>
              </a:ext>
            </a:extLst>
          </p:cNvPr>
          <p:cNvSpPr txBox="1"/>
          <p:nvPr/>
        </p:nvSpPr>
        <p:spPr>
          <a:xfrm>
            <a:off x="288779" y="1208175"/>
            <a:ext cx="8226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Drag your .ipynb file onto the dialog box, click Import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205C8AD-792A-044F-9CEA-35020300DF9F}"/>
              </a:ext>
            </a:extLst>
          </p:cNvPr>
          <p:cNvSpPr/>
          <p:nvPr/>
        </p:nvSpPr>
        <p:spPr bwMode="auto">
          <a:xfrm>
            <a:off x="3867928" y="2814759"/>
            <a:ext cx="2300115" cy="371994"/>
          </a:xfrm>
          <a:prstGeom prst="ellipse">
            <a:avLst/>
          </a:prstGeom>
          <a:noFill/>
          <a:ln w="349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EDF6DFF-59E2-174E-BE75-5895DCFCB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9824" y="2432400"/>
            <a:ext cx="3801341" cy="2466748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956C9912-3F97-B341-9670-E66C998D1A65}"/>
              </a:ext>
            </a:extLst>
          </p:cNvPr>
          <p:cNvSpPr/>
          <p:nvPr/>
        </p:nvSpPr>
        <p:spPr bwMode="auto">
          <a:xfrm>
            <a:off x="2981236" y="3241644"/>
            <a:ext cx="3511003" cy="610127"/>
          </a:xfrm>
          <a:prstGeom prst="ellipse">
            <a:avLst/>
          </a:prstGeom>
          <a:noFill/>
          <a:ln w="349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747718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651" y="145913"/>
            <a:ext cx="7886700" cy="727075"/>
          </a:xfrm>
        </p:spPr>
        <p:txBody>
          <a:bodyPr/>
          <a:lstStyle/>
          <a:p>
            <a:r>
              <a:rPr lang="en-US" altLang="en-US" dirty="0"/>
              <a:t>Import a .ipynb file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0109AB-468F-499E-8B6B-49A4FD048002}"/>
              </a:ext>
            </a:extLst>
          </p:cNvPr>
          <p:cNvSpPr txBox="1"/>
          <p:nvPr/>
        </p:nvSpPr>
        <p:spPr>
          <a:xfrm>
            <a:off x="288779" y="1208175"/>
            <a:ext cx="82265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file should be displayed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Make a shortcut to this webpage to easily get back to your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You’ll have to log into VAULT &amp; Databricks before clicking on the shortcut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5FC38B-FB2F-CB41-A7CF-FEB1420EE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046" y="2408504"/>
            <a:ext cx="5220393" cy="356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292176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Image result for AFIT Logo"/>
          <p:cNvSpPr>
            <a:spLocks noChangeAspect="1" noChangeArrowheads="1"/>
          </p:cNvSpPr>
          <p:nvPr/>
        </p:nvSpPr>
        <p:spPr bwMode="auto">
          <a:xfrm>
            <a:off x="0" y="-144462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30278" y="1755145"/>
            <a:ext cx="866667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>
                    <a:lumMod val="50000"/>
                  </a:schemeClr>
                </a:solidFill>
              </a:rPr>
              <a:t>Importing an existing .ipynb file, </a:t>
            </a:r>
          </a:p>
          <a:p>
            <a:r>
              <a:rPr lang="en-US" sz="4000" b="1" dirty="0">
                <a:solidFill>
                  <a:schemeClr val="accent6">
                    <a:lumMod val="50000"/>
                  </a:schemeClr>
                </a:solidFill>
              </a:rPr>
              <a:t>Importing a data file, </a:t>
            </a:r>
          </a:p>
          <a:p>
            <a:r>
              <a:rPr lang="en-US" sz="4000" b="1" dirty="0">
                <a:solidFill>
                  <a:schemeClr val="bg1">
                    <a:lumMod val="50000"/>
                  </a:schemeClr>
                </a:solidFill>
              </a:rPr>
              <a:t>Integration of datafile</a:t>
            </a:r>
          </a:p>
          <a:p>
            <a:r>
              <a:rPr lang="en-US" sz="4000" b="1" dirty="0">
                <a:solidFill>
                  <a:schemeClr val="bg1">
                    <a:lumMod val="50000"/>
                  </a:schemeClr>
                </a:solidFill>
              </a:rPr>
              <a:t>Addressing common problems</a:t>
            </a:r>
            <a:endParaRPr lang="en-US" sz="36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2984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651" y="145913"/>
            <a:ext cx="7886700" cy="727075"/>
          </a:xfrm>
        </p:spPr>
        <p:txBody>
          <a:bodyPr/>
          <a:lstStyle/>
          <a:p>
            <a:r>
              <a:rPr lang="en-US" altLang="en-US" dirty="0"/>
              <a:t>Import a datafile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0109AB-468F-499E-8B6B-49A4FD048002}"/>
              </a:ext>
            </a:extLst>
          </p:cNvPr>
          <p:cNvSpPr txBox="1"/>
          <p:nvPr/>
        </p:nvSpPr>
        <p:spPr>
          <a:xfrm>
            <a:off x="288779" y="1208175"/>
            <a:ext cx="82265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Click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Click DBFS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Click Upload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1E8B60-90C4-E24E-AD06-056FD5C3F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6495" y="2743691"/>
            <a:ext cx="5536276" cy="3339818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DEBF4A9C-912D-8C4A-8E2B-8D81E6BF4104}"/>
              </a:ext>
            </a:extLst>
          </p:cNvPr>
          <p:cNvSpPr/>
          <p:nvPr/>
        </p:nvSpPr>
        <p:spPr bwMode="auto">
          <a:xfrm>
            <a:off x="1895041" y="4933672"/>
            <a:ext cx="1120833" cy="371994"/>
          </a:xfrm>
          <a:prstGeom prst="ellipse">
            <a:avLst/>
          </a:prstGeom>
          <a:noFill/>
          <a:ln w="349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2B81B3-C25C-814B-99A5-0E454D9B9078}"/>
              </a:ext>
            </a:extLst>
          </p:cNvPr>
          <p:cNvSpPr/>
          <p:nvPr/>
        </p:nvSpPr>
        <p:spPr bwMode="auto">
          <a:xfrm>
            <a:off x="6501938" y="2743691"/>
            <a:ext cx="1120833" cy="371994"/>
          </a:xfrm>
          <a:prstGeom prst="ellipse">
            <a:avLst/>
          </a:prstGeom>
          <a:noFill/>
          <a:ln w="349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F31CD4A-CEFA-C548-B851-FE4D041F8B23}"/>
              </a:ext>
            </a:extLst>
          </p:cNvPr>
          <p:cNvSpPr/>
          <p:nvPr/>
        </p:nvSpPr>
        <p:spPr bwMode="auto">
          <a:xfrm>
            <a:off x="4402065" y="2743691"/>
            <a:ext cx="1120833" cy="371994"/>
          </a:xfrm>
          <a:prstGeom prst="ellipse">
            <a:avLst/>
          </a:prstGeom>
          <a:noFill/>
          <a:ln w="349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401530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651" y="145913"/>
            <a:ext cx="7886700" cy="727075"/>
          </a:xfrm>
        </p:spPr>
        <p:txBody>
          <a:bodyPr/>
          <a:lstStyle/>
          <a:p>
            <a:r>
              <a:rPr lang="en-US" altLang="en-US" dirty="0"/>
              <a:t>Import a datafile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0109AB-468F-499E-8B6B-49A4FD048002}"/>
              </a:ext>
            </a:extLst>
          </p:cNvPr>
          <p:cNvSpPr txBox="1"/>
          <p:nvPr/>
        </p:nvSpPr>
        <p:spPr>
          <a:xfrm>
            <a:off x="288779" y="1208175"/>
            <a:ext cx="8226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Drag your datafile onto the dialog box, click Import</a:t>
            </a:r>
          </a:p>
          <a:p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F31CD4A-CEFA-C548-B851-FE4D041F8B23}"/>
              </a:ext>
            </a:extLst>
          </p:cNvPr>
          <p:cNvSpPr/>
          <p:nvPr/>
        </p:nvSpPr>
        <p:spPr bwMode="auto">
          <a:xfrm>
            <a:off x="4402065" y="2743691"/>
            <a:ext cx="1120833" cy="371994"/>
          </a:xfrm>
          <a:prstGeom prst="ellipse">
            <a:avLst/>
          </a:prstGeom>
          <a:noFill/>
          <a:ln w="349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8B41E4-FE5C-C54B-8ADF-77B59FF3D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0861" y="2642739"/>
            <a:ext cx="3635548" cy="3294048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DEBF4A9C-912D-8C4A-8E2B-8D81E6BF4104}"/>
              </a:ext>
            </a:extLst>
          </p:cNvPr>
          <p:cNvSpPr/>
          <p:nvPr/>
        </p:nvSpPr>
        <p:spPr bwMode="auto">
          <a:xfrm>
            <a:off x="3148552" y="4351781"/>
            <a:ext cx="3627857" cy="694044"/>
          </a:xfrm>
          <a:prstGeom prst="ellipse">
            <a:avLst/>
          </a:prstGeom>
          <a:noFill/>
          <a:ln w="349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791937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Image result for AFIT Logo"/>
          <p:cNvSpPr>
            <a:spLocks noChangeAspect="1" noChangeArrowheads="1"/>
          </p:cNvSpPr>
          <p:nvPr/>
        </p:nvSpPr>
        <p:spPr bwMode="auto">
          <a:xfrm>
            <a:off x="0" y="-144462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30278" y="1755145"/>
            <a:ext cx="866667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>
                    <a:lumMod val="50000"/>
                  </a:schemeClr>
                </a:solidFill>
              </a:rPr>
              <a:t>Importing an existing .ipynb file, </a:t>
            </a:r>
          </a:p>
          <a:p>
            <a:r>
              <a:rPr lang="en-US" sz="4000" b="1" dirty="0">
                <a:solidFill>
                  <a:schemeClr val="bg1">
                    <a:lumMod val="50000"/>
                  </a:schemeClr>
                </a:solidFill>
              </a:rPr>
              <a:t>Importing a data file, </a:t>
            </a:r>
          </a:p>
          <a:p>
            <a:r>
              <a:rPr lang="en-US" sz="4000" b="1" dirty="0">
                <a:solidFill>
                  <a:schemeClr val="accent6">
                    <a:lumMod val="50000"/>
                  </a:schemeClr>
                </a:solidFill>
              </a:rPr>
              <a:t>Integration of datafile</a:t>
            </a:r>
          </a:p>
          <a:p>
            <a:r>
              <a:rPr lang="en-US" sz="4000" b="1" dirty="0">
                <a:solidFill>
                  <a:schemeClr val="bg1">
                    <a:lumMod val="50000"/>
                  </a:schemeClr>
                </a:solidFill>
              </a:rPr>
              <a:t>Addressing common problems</a:t>
            </a:r>
            <a:endParaRPr lang="en-US" sz="36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956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A0109AB-468F-499E-8B6B-49A4FD048002}"/>
              </a:ext>
            </a:extLst>
          </p:cNvPr>
          <p:cNvSpPr txBox="1"/>
          <p:nvPr/>
        </p:nvSpPr>
        <p:spPr>
          <a:xfrm>
            <a:off x="3073543" y="2696153"/>
            <a:ext cx="29864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Get the link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Go back to your file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Paste into your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, we’ll get the link</a:t>
            </a:r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4FDDFABF-FC92-5F46-BB1C-1EA40C7DA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145913"/>
            <a:ext cx="7886700" cy="727075"/>
          </a:xfrm>
        </p:spPr>
        <p:txBody>
          <a:bodyPr/>
          <a:lstStyle/>
          <a:p>
            <a:r>
              <a:rPr lang="en-US" altLang="en-US" dirty="0"/>
              <a:t>Integration of Datafile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757976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A0109AB-468F-499E-8B6B-49A4FD048002}"/>
              </a:ext>
            </a:extLst>
          </p:cNvPr>
          <p:cNvSpPr txBox="1"/>
          <p:nvPr/>
        </p:nvSpPr>
        <p:spPr>
          <a:xfrm>
            <a:off x="288779" y="1208175"/>
            <a:ext cx="298643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Click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Click DBFS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Click FileStore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Click the dropdown next to your filename, and Copy Path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Click Copy, near File API Format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below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2B81B3-C25C-814B-99A5-0E454D9B9078}"/>
              </a:ext>
            </a:extLst>
          </p:cNvPr>
          <p:cNvSpPr/>
          <p:nvPr/>
        </p:nvSpPr>
        <p:spPr bwMode="auto">
          <a:xfrm>
            <a:off x="6501938" y="2743691"/>
            <a:ext cx="1120833" cy="371994"/>
          </a:xfrm>
          <a:prstGeom prst="ellipse">
            <a:avLst/>
          </a:prstGeom>
          <a:noFill/>
          <a:ln w="349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F31CD4A-CEFA-C548-B851-FE4D041F8B23}"/>
              </a:ext>
            </a:extLst>
          </p:cNvPr>
          <p:cNvSpPr/>
          <p:nvPr/>
        </p:nvSpPr>
        <p:spPr bwMode="auto">
          <a:xfrm>
            <a:off x="4402065" y="2743691"/>
            <a:ext cx="1120833" cy="371994"/>
          </a:xfrm>
          <a:prstGeom prst="ellipse">
            <a:avLst/>
          </a:prstGeom>
          <a:noFill/>
          <a:ln w="349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2FC87B-A975-AB40-844C-E24DC08FB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0172" y="0"/>
            <a:ext cx="5793828" cy="6858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DEBF4A9C-912D-8C4A-8E2B-8D81E6BF4104}"/>
              </a:ext>
            </a:extLst>
          </p:cNvPr>
          <p:cNvSpPr/>
          <p:nvPr/>
        </p:nvSpPr>
        <p:spPr bwMode="auto">
          <a:xfrm>
            <a:off x="4654867" y="3416599"/>
            <a:ext cx="1120833" cy="371994"/>
          </a:xfrm>
          <a:prstGeom prst="ellipse">
            <a:avLst/>
          </a:prstGeom>
          <a:noFill/>
          <a:ln w="349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49DE28D-9C84-A94D-AAB8-6A23B6F8C282}"/>
              </a:ext>
            </a:extLst>
          </p:cNvPr>
          <p:cNvSpPr/>
          <p:nvPr/>
        </p:nvSpPr>
        <p:spPr bwMode="auto">
          <a:xfrm>
            <a:off x="5307214" y="-56227"/>
            <a:ext cx="1120833" cy="371994"/>
          </a:xfrm>
          <a:prstGeom prst="ellipse">
            <a:avLst/>
          </a:prstGeom>
          <a:noFill/>
          <a:ln w="349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5461083-B272-B446-A5FD-6DD2EFBCE01E}"/>
              </a:ext>
            </a:extLst>
          </p:cNvPr>
          <p:cNvSpPr/>
          <p:nvPr/>
        </p:nvSpPr>
        <p:spPr bwMode="auto">
          <a:xfrm>
            <a:off x="6394796" y="3818450"/>
            <a:ext cx="1518920" cy="371994"/>
          </a:xfrm>
          <a:prstGeom prst="ellipse">
            <a:avLst/>
          </a:prstGeom>
          <a:noFill/>
          <a:ln w="349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56A3B34-EF82-C44A-94D8-E9BAB4BDAF6A}"/>
              </a:ext>
            </a:extLst>
          </p:cNvPr>
          <p:cNvSpPr/>
          <p:nvPr/>
        </p:nvSpPr>
        <p:spPr bwMode="auto">
          <a:xfrm>
            <a:off x="7788765" y="4002647"/>
            <a:ext cx="1120833" cy="371994"/>
          </a:xfrm>
          <a:prstGeom prst="ellipse">
            <a:avLst/>
          </a:prstGeom>
          <a:noFill/>
          <a:ln w="349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E93479B-10F1-5641-94EA-AF695A3BA047}"/>
              </a:ext>
            </a:extLst>
          </p:cNvPr>
          <p:cNvSpPr/>
          <p:nvPr/>
        </p:nvSpPr>
        <p:spPr bwMode="auto">
          <a:xfrm>
            <a:off x="3275215" y="2018107"/>
            <a:ext cx="1120833" cy="371994"/>
          </a:xfrm>
          <a:prstGeom prst="ellipse">
            <a:avLst/>
          </a:prstGeom>
          <a:noFill/>
          <a:ln w="349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1929A6-0FB0-3049-99BD-64BF812A5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60930"/>
            <a:ext cx="3025371" cy="1797070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AF3FFF5C-8E3F-4342-A1D6-DE713BB51B59}"/>
              </a:ext>
            </a:extLst>
          </p:cNvPr>
          <p:cNvSpPr/>
          <p:nvPr/>
        </p:nvSpPr>
        <p:spPr bwMode="auto">
          <a:xfrm>
            <a:off x="2044931" y="6116282"/>
            <a:ext cx="1120833" cy="371994"/>
          </a:xfrm>
          <a:prstGeom prst="ellipse">
            <a:avLst/>
          </a:prstGeom>
          <a:noFill/>
          <a:ln w="349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30620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A0109AB-468F-499E-8B6B-49A4FD048002}"/>
              </a:ext>
            </a:extLst>
          </p:cNvPr>
          <p:cNvSpPr txBox="1"/>
          <p:nvPr/>
        </p:nvSpPr>
        <p:spPr>
          <a:xfrm>
            <a:off x="155775" y="1224801"/>
            <a:ext cx="298643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Get the link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Go back to your file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Paste into your code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Either click the shortcut you made, 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Click Workspace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Click your folder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Double click your python file</a:t>
            </a:r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4FDDFABF-FC92-5F46-BB1C-1EA40C7DA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145913"/>
            <a:ext cx="7886700" cy="727075"/>
          </a:xfrm>
        </p:spPr>
        <p:txBody>
          <a:bodyPr/>
          <a:lstStyle/>
          <a:p>
            <a:r>
              <a:rPr lang="en-US" altLang="en-US" dirty="0"/>
              <a:t>Integration of Datafile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20DE86-0A64-DB4D-AE7A-9DE8A0867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6901" y="2531217"/>
            <a:ext cx="5685905" cy="366581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85417E0B-D90A-A448-AEEE-3E9B97FDE117}"/>
              </a:ext>
            </a:extLst>
          </p:cNvPr>
          <p:cNvSpPr/>
          <p:nvPr/>
        </p:nvSpPr>
        <p:spPr bwMode="auto">
          <a:xfrm>
            <a:off x="3266901" y="3754996"/>
            <a:ext cx="1120833" cy="371994"/>
          </a:xfrm>
          <a:prstGeom prst="ellipse">
            <a:avLst/>
          </a:prstGeom>
          <a:noFill/>
          <a:ln w="349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FFA317-3F2A-094F-B88C-55CE288A5137}"/>
              </a:ext>
            </a:extLst>
          </p:cNvPr>
          <p:cNvSpPr/>
          <p:nvPr/>
        </p:nvSpPr>
        <p:spPr bwMode="auto">
          <a:xfrm>
            <a:off x="4765704" y="3203239"/>
            <a:ext cx="1989945" cy="371994"/>
          </a:xfrm>
          <a:prstGeom prst="ellipse">
            <a:avLst/>
          </a:prstGeom>
          <a:noFill/>
          <a:ln w="349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982C518-5EDC-BD4F-88F0-B1DF45D8A985}"/>
              </a:ext>
            </a:extLst>
          </p:cNvPr>
          <p:cNvSpPr/>
          <p:nvPr/>
        </p:nvSpPr>
        <p:spPr bwMode="auto">
          <a:xfrm>
            <a:off x="6755649" y="3788593"/>
            <a:ext cx="1490576" cy="371994"/>
          </a:xfrm>
          <a:prstGeom prst="ellipse">
            <a:avLst/>
          </a:prstGeom>
          <a:noFill/>
          <a:ln w="349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279875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A0109AB-468F-499E-8B6B-49A4FD048002}"/>
              </a:ext>
            </a:extLst>
          </p:cNvPr>
          <p:cNvSpPr txBox="1"/>
          <p:nvPr/>
        </p:nvSpPr>
        <p:spPr>
          <a:xfrm>
            <a:off x="155775" y="1224801"/>
            <a:ext cx="29864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Get the link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Go back to your file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Paste into your code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4FDDFABF-FC92-5F46-BB1C-1EA40C7DA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145913"/>
            <a:ext cx="7886700" cy="727075"/>
          </a:xfrm>
        </p:spPr>
        <p:txBody>
          <a:bodyPr/>
          <a:lstStyle/>
          <a:p>
            <a:r>
              <a:rPr lang="en-US" altLang="en-US" dirty="0"/>
              <a:t>Integration of Datafile</a:t>
            </a:r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FFA317-3F2A-094F-B88C-55CE288A5137}"/>
              </a:ext>
            </a:extLst>
          </p:cNvPr>
          <p:cNvSpPr/>
          <p:nvPr/>
        </p:nvSpPr>
        <p:spPr bwMode="auto">
          <a:xfrm>
            <a:off x="4765704" y="3203239"/>
            <a:ext cx="1989945" cy="371994"/>
          </a:xfrm>
          <a:prstGeom prst="ellipse">
            <a:avLst/>
          </a:prstGeom>
          <a:noFill/>
          <a:ln w="349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38151D-9E78-6D47-A588-E51DEF8BB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8315" y="2681470"/>
            <a:ext cx="4565765" cy="3486111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85417E0B-D90A-A448-AEEE-3E9B97FDE117}"/>
              </a:ext>
            </a:extLst>
          </p:cNvPr>
          <p:cNvSpPr/>
          <p:nvPr/>
        </p:nvSpPr>
        <p:spPr bwMode="auto">
          <a:xfrm>
            <a:off x="2294312" y="2832005"/>
            <a:ext cx="3773979" cy="371994"/>
          </a:xfrm>
          <a:prstGeom prst="ellipse">
            <a:avLst/>
          </a:prstGeom>
          <a:noFill/>
          <a:ln w="349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6676003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Image result for AFIT Logo"/>
          <p:cNvSpPr>
            <a:spLocks noChangeAspect="1" noChangeArrowheads="1"/>
          </p:cNvSpPr>
          <p:nvPr/>
        </p:nvSpPr>
        <p:spPr bwMode="auto">
          <a:xfrm>
            <a:off x="0" y="-144462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30278" y="1755145"/>
            <a:ext cx="866667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>
                    <a:lumMod val="50000"/>
                  </a:schemeClr>
                </a:solidFill>
              </a:rPr>
              <a:t>Importing an existing .ipynb file, </a:t>
            </a:r>
          </a:p>
          <a:p>
            <a:r>
              <a:rPr lang="en-US" sz="4000" b="1" dirty="0">
                <a:solidFill>
                  <a:schemeClr val="bg1">
                    <a:lumMod val="50000"/>
                  </a:schemeClr>
                </a:solidFill>
              </a:rPr>
              <a:t>Importing a data file, </a:t>
            </a:r>
          </a:p>
          <a:p>
            <a:r>
              <a:rPr lang="en-US" sz="4000" b="1" dirty="0">
                <a:solidFill>
                  <a:schemeClr val="bg1">
                    <a:lumMod val="50000"/>
                  </a:schemeClr>
                </a:solidFill>
              </a:rPr>
              <a:t>Integration of datafile</a:t>
            </a:r>
          </a:p>
          <a:p>
            <a:r>
              <a:rPr lang="en-US" sz="4000" b="1" dirty="0">
                <a:solidFill>
                  <a:schemeClr val="accent6">
                    <a:lumMod val="50000"/>
                  </a:schemeClr>
                </a:solidFill>
              </a:rPr>
              <a:t>Addressing common problems</a:t>
            </a:r>
          </a:p>
        </p:txBody>
      </p:sp>
    </p:spTree>
    <p:extLst>
      <p:ext uri="{BB962C8B-B14F-4D97-AF65-F5344CB8AC3E}">
        <p14:creationId xmlns:p14="http://schemas.microsoft.com/office/powerpoint/2010/main" val="3373779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651" y="145913"/>
            <a:ext cx="7886700" cy="727075"/>
          </a:xfrm>
        </p:spPr>
        <p:txBody>
          <a:bodyPr/>
          <a:lstStyle/>
          <a:p>
            <a:r>
              <a:rPr lang="en-US" altLang="en-US" dirty="0"/>
              <a:t>Add libraries as needed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F634CF-359E-704F-B838-77A3ED9928F0}"/>
              </a:ext>
            </a:extLst>
          </p:cNvPr>
          <p:cNvSpPr txBox="1"/>
          <p:nvPr/>
        </p:nvSpPr>
        <p:spPr>
          <a:xfrm>
            <a:off x="155775" y="1224801"/>
            <a:ext cx="29864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Add one per block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If pip install doesn’t work use shell command prefix %sh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0B22FD-DC7B-2D40-8943-091EB263F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174" y="2144682"/>
            <a:ext cx="5107918" cy="318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995388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651" y="145913"/>
            <a:ext cx="7886700" cy="727075"/>
          </a:xfrm>
        </p:spPr>
        <p:txBody>
          <a:bodyPr/>
          <a:lstStyle/>
          <a:p>
            <a:r>
              <a:rPr lang="en-US" altLang="en-US" dirty="0"/>
              <a:t>Some libraries won’t work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F634CF-359E-704F-B838-77A3ED9928F0}"/>
              </a:ext>
            </a:extLst>
          </p:cNvPr>
          <p:cNvSpPr txBox="1"/>
          <p:nvPr/>
        </p:nvSpPr>
        <p:spPr>
          <a:xfrm>
            <a:off x="155774" y="1224801"/>
            <a:ext cx="818189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If you get errors, check the version number of the library you are using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Colab uses seaborn 0.11.2, databricks has version 0.10.0. I had to upgrade the library to prevent an error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Some version variation was OK for 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Colab python 3.7.13, databricks 3.7.5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Colab XGBoost 0.90, databricks 1.6.1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Some won’t work regardless of your efforts - Ax-client hyperparameter sweep tool is an example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Research an alternative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Preferably, one that people say works on Databricks – Hyperopt worked for me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FA3E79-DCFB-A54E-A5F1-611DA4ED6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3811" y="2180597"/>
            <a:ext cx="3592714" cy="96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783196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651" y="145913"/>
            <a:ext cx="7886700" cy="727075"/>
          </a:xfrm>
        </p:spPr>
        <p:txBody>
          <a:bodyPr/>
          <a:lstStyle/>
          <a:p>
            <a:r>
              <a:rPr lang="en-US" altLang="en-US" dirty="0"/>
              <a:t>A few quirks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F634CF-359E-704F-B838-77A3ED9928F0}"/>
              </a:ext>
            </a:extLst>
          </p:cNvPr>
          <p:cNvSpPr txBox="1"/>
          <p:nvPr/>
        </p:nvSpPr>
        <p:spPr>
          <a:xfrm>
            <a:off x="155774" y="1224801"/>
            <a:ext cx="701810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Sometimes Databricks will take several minutes to execute the 1</a:t>
            </a:r>
            <a:r>
              <a:rPr lang="en-US" baseline="30000" dirty="0"/>
              <a:t>st</a:t>
            </a:r>
            <a:r>
              <a:rPr lang="en-US" dirty="0"/>
              <a:t> block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When getting dataframe information in Databricks, sometimes there are formatting errors: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Error: 	df.info()		OK: df.info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Error: 	df.dtypes()	OK: df.dtypes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New blocks will always be code blocks. To change from a code block to a text header, click Python and then Markdown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E2152B-0B12-C44B-8508-67CC00797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171" y="4126917"/>
            <a:ext cx="2539654" cy="1968852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75BDDC46-6B21-894F-8BA2-9EA9EFCC90CE}"/>
              </a:ext>
            </a:extLst>
          </p:cNvPr>
          <p:cNvSpPr/>
          <p:nvPr/>
        </p:nvSpPr>
        <p:spPr bwMode="auto">
          <a:xfrm>
            <a:off x="6861520" y="4178125"/>
            <a:ext cx="1120833" cy="371994"/>
          </a:xfrm>
          <a:prstGeom prst="ellipse">
            <a:avLst/>
          </a:prstGeom>
          <a:noFill/>
          <a:ln w="349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333268D-8EDA-914E-B535-C3A2CBABE759}"/>
              </a:ext>
            </a:extLst>
          </p:cNvPr>
          <p:cNvSpPr/>
          <p:nvPr/>
        </p:nvSpPr>
        <p:spPr bwMode="auto">
          <a:xfrm>
            <a:off x="6969586" y="4735077"/>
            <a:ext cx="1120833" cy="371994"/>
          </a:xfrm>
          <a:prstGeom prst="ellipse">
            <a:avLst/>
          </a:prstGeom>
          <a:noFill/>
          <a:ln w="349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986323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2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00"/>
      </a:hlink>
      <a:folHlink>
        <a:srgbClr val="000066"/>
      </a:folHlink>
    </a:clrScheme>
    <a:fontScheme name="2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AFIT Template_EN_PowerPoint</Template>
  <TotalTime>7327</TotalTime>
  <Words>932</Words>
  <Application>Microsoft Macintosh PowerPoint</Application>
  <PresentationFormat>On-screen Show (4:3)</PresentationFormat>
  <Paragraphs>162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2_Default Design</vt:lpstr>
      <vt:lpstr>PowerPoint Presentation</vt:lpstr>
      <vt:lpstr>PowerPoint Presentation</vt:lpstr>
      <vt:lpstr>Motivation</vt:lpstr>
      <vt:lpstr>Request Access</vt:lpstr>
      <vt:lpstr>Request Access</vt:lpstr>
      <vt:lpstr>Request Access</vt:lpstr>
      <vt:lpstr>Request Access</vt:lpstr>
      <vt:lpstr>Request Access</vt:lpstr>
      <vt:lpstr>Request Access</vt:lpstr>
      <vt:lpstr>Request Access</vt:lpstr>
      <vt:lpstr>Databricks Home</vt:lpstr>
      <vt:lpstr>PowerPoint Presentation</vt:lpstr>
      <vt:lpstr>PowerPoint Presentation</vt:lpstr>
      <vt:lpstr>Import a .ipynb file</vt:lpstr>
      <vt:lpstr>Import a .ipynb file</vt:lpstr>
      <vt:lpstr>Import a .ipynb file</vt:lpstr>
      <vt:lpstr>Import a .ipynb file</vt:lpstr>
      <vt:lpstr>PowerPoint Presentation</vt:lpstr>
      <vt:lpstr>Import a datafile</vt:lpstr>
      <vt:lpstr>Import a datafile</vt:lpstr>
      <vt:lpstr>PowerPoint Presentation</vt:lpstr>
      <vt:lpstr>Integration of Datafile</vt:lpstr>
      <vt:lpstr>PowerPoint Presentation</vt:lpstr>
      <vt:lpstr>Integration of Datafile</vt:lpstr>
      <vt:lpstr>Integration of Datafile</vt:lpstr>
      <vt:lpstr>PowerPoint Presentation</vt:lpstr>
      <vt:lpstr>Add libraries as needed</vt:lpstr>
      <vt:lpstr>Some libraries won’t work</vt:lpstr>
      <vt:lpstr>A few quirks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Cengage Learning</dc:creator>
  <cp:lastModifiedBy>Torrey Wagner</cp:lastModifiedBy>
  <cp:revision>74</cp:revision>
  <dcterms:created xsi:type="dcterms:W3CDTF">2015-06-17T14:10:03Z</dcterms:created>
  <dcterms:modified xsi:type="dcterms:W3CDTF">2023-04-26T18:13:26Z</dcterms:modified>
</cp:coreProperties>
</file>