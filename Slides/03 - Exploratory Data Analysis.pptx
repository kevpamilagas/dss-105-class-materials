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29"/>
  </p:notesMasterIdLst>
  <p:sldIdLst>
    <p:sldId id="333" r:id="rId5"/>
    <p:sldId id="334" r:id="rId6"/>
    <p:sldId id="335" r:id="rId7"/>
    <p:sldId id="336" r:id="rId8"/>
    <p:sldId id="337" r:id="rId9"/>
    <p:sldId id="338" r:id="rId10"/>
    <p:sldId id="339" r:id="rId11"/>
    <p:sldId id="340" r:id="rId12"/>
    <p:sldId id="341" r:id="rId13"/>
    <p:sldId id="342" r:id="rId14"/>
    <p:sldId id="343" r:id="rId15"/>
    <p:sldId id="346" r:id="rId16"/>
    <p:sldId id="347" r:id="rId17"/>
    <p:sldId id="348" r:id="rId18"/>
    <p:sldId id="349" r:id="rId19"/>
    <p:sldId id="350" r:id="rId20"/>
    <p:sldId id="351" r:id="rId21"/>
    <p:sldId id="352" r:id="rId22"/>
    <p:sldId id="353" r:id="rId23"/>
    <p:sldId id="354" r:id="rId24"/>
    <p:sldId id="355" r:id="rId25"/>
    <p:sldId id="356" r:id="rId26"/>
    <p:sldId id="358" r:id="rId27"/>
    <p:sldId id="359" r:id="rId28"/>
  </p:sldIdLst>
  <p:sldSz cx="9144000" cy="5143500" type="screen16x9"/>
  <p:notesSz cx="6858000" cy="9144000"/>
  <p:embeddedFontLst>
    <p:embeddedFont>
      <p:font typeface="Lato" panose="020F0502020204030203" pitchFamily="34" charset="0"/>
      <p:regular r:id="rId30"/>
      <p:bold r:id="rId31"/>
      <p:italic r:id="rId32"/>
      <p:boldItalic r:id="rId33"/>
    </p:embeddedFont>
    <p:embeddedFont>
      <p:font typeface="Montserrat" panose="000005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50DAD7F-6C3D-44DA-B44C-F0A5328448DC}">
  <a:tblStyle styleId="{450DAD7F-6C3D-44DA-B44C-F0A5328448D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font" Target="fonts/font5.fntdata"/><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7.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Pamilagas" userId="95fbd0607220e462" providerId="LiveId" clId="{5BB3BEA8-DB17-46A8-B2F7-5EC3E1D3DA39}"/>
    <pc:docChg chg="custSel modSld">
      <pc:chgData name="Kevin Pamilagas" userId="95fbd0607220e462" providerId="LiveId" clId="{5BB3BEA8-DB17-46A8-B2F7-5EC3E1D3DA39}" dt="2026-03-05T13:38:16.930" v="4" actId="1076"/>
      <pc:docMkLst>
        <pc:docMk/>
      </pc:docMkLst>
      <pc:sldChg chg="addSp delSp modSp mod">
        <pc:chgData name="Kevin Pamilagas" userId="95fbd0607220e462" providerId="LiveId" clId="{5BB3BEA8-DB17-46A8-B2F7-5EC3E1D3DA39}" dt="2026-03-05T13:38:16.930" v="4" actId="1076"/>
        <pc:sldMkLst>
          <pc:docMk/>
          <pc:sldMk cId="0" sldId="356"/>
        </pc:sldMkLst>
        <pc:picChg chg="add mod">
          <ac:chgData name="Kevin Pamilagas" userId="95fbd0607220e462" providerId="LiveId" clId="{5BB3BEA8-DB17-46A8-B2F7-5EC3E1D3DA39}" dt="2026-03-05T13:38:16.930" v="4" actId="1076"/>
          <ac:picMkLst>
            <pc:docMk/>
            <pc:sldMk cId="0" sldId="356"/>
            <ac:picMk id="3" creationId="{D220C963-5E1B-2FE3-4E88-D6EEBA40B12E}"/>
          </ac:picMkLst>
        </pc:picChg>
        <pc:picChg chg="del">
          <ac:chgData name="Kevin Pamilagas" userId="95fbd0607220e462" providerId="LiveId" clId="{5BB3BEA8-DB17-46A8-B2F7-5EC3E1D3DA39}" dt="2026-03-05T13:37:52" v="0" actId="478"/>
          <ac:picMkLst>
            <pc:docMk/>
            <pc:sldMk cId="0" sldId="356"/>
            <ac:picMk id="775"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7020efbca1_1_1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7020efbca1_1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8107914f74_1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6" name="Google Shape;636;g8107914f74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80e5e0d905_1_1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80e5e0d905_1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8107914f74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8107914f7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8107914f74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8107914f7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8107914f74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8107914f74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107914f74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107914f7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8107914f74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8107914f74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80e5e0d905_1_4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4" name="Google Shape;684;g80e5e0d905_1_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80e5e0d905_1_6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80e5e0d905_1_6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8107914f74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9" name="Google Shape;709;g8107914f74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g8107914f74_1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6" name="Google Shape;716;g8107914f74_1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8107914f74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 name="Google Shape;722;g8107914f74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8107914f74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8107914f74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8107914f74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8107914f7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8107914f74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1" name="Google Shape;741;g8107914f7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8107914f74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7" name="Google Shape;747;g8107914f74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8107914f74_1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5" name="Google Shape;755;g8107914f74_1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8107914f74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0" name="Google Shape;760;g8107914f74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8107914f74_1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6" name="Google Shape;766;g8107914f74_1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8107914f7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8107914f7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8107914f74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5" name="Google Shape;785;g8107914f74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8107914f74_1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8107914f74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www.youtube.com/watch?v=jbkSRLYSojo" TargetMode="External"/><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90"/>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Exploratory Data Analysis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9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Exploratory Data Analysis</a:t>
            </a:r>
            <a:endParaRPr sz="3000"/>
          </a:p>
        </p:txBody>
      </p:sp>
      <p:sp>
        <p:nvSpPr>
          <p:cNvPr id="633" name="Google Shape;633;p91"/>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Analyze data sets to summarize their characteristics</a:t>
            </a:r>
            <a:endParaRPr sz="2400"/>
          </a:p>
          <a:p>
            <a:pPr marL="457200" lvl="0" indent="-381000" algn="l" rtl="0">
              <a:spcBef>
                <a:spcPts val="1600"/>
              </a:spcBef>
              <a:spcAft>
                <a:spcPts val="0"/>
              </a:spcAft>
              <a:buSzPts val="2400"/>
              <a:buAutoNum type="arabicPeriod"/>
            </a:pPr>
            <a:r>
              <a:rPr lang="en" sz="2400"/>
              <a:t>Numerical summarization</a:t>
            </a:r>
            <a:endParaRPr sz="2400"/>
          </a:p>
          <a:p>
            <a:pPr marL="457200" lvl="0" indent="-381000" algn="l" rtl="0">
              <a:spcBef>
                <a:spcPts val="0"/>
              </a:spcBef>
              <a:spcAft>
                <a:spcPts val="0"/>
              </a:spcAft>
              <a:buSzPts val="2400"/>
              <a:buAutoNum type="arabicPeriod"/>
            </a:pPr>
            <a:r>
              <a:rPr lang="en" sz="2400"/>
              <a:t>Data visualization</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9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Exploratory Data Analysis</a:t>
            </a:r>
            <a:endParaRPr sz="3000"/>
          </a:p>
        </p:txBody>
      </p:sp>
      <p:sp>
        <p:nvSpPr>
          <p:cNvPr id="639" name="Google Shape;639;p92"/>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Gives us an overall view</a:t>
            </a:r>
            <a:endParaRPr sz="2400"/>
          </a:p>
          <a:p>
            <a:pPr marL="0" lvl="0" indent="0" algn="l" rtl="0">
              <a:spcBef>
                <a:spcPts val="1600"/>
              </a:spcBef>
              <a:spcAft>
                <a:spcPts val="0"/>
              </a:spcAft>
              <a:buNone/>
            </a:pPr>
            <a:r>
              <a:rPr lang="en" sz="2400"/>
              <a:t>Helps avoid oversight</a:t>
            </a:r>
            <a:endParaRPr sz="2400"/>
          </a:p>
          <a:p>
            <a:pPr marL="0" lvl="0" indent="0" algn="l" rtl="0">
              <a:spcBef>
                <a:spcPts val="1600"/>
              </a:spcBef>
              <a:spcAft>
                <a:spcPts val="0"/>
              </a:spcAft>
              <a:buNone/>
            </a:pPr>
            <a:r>
              <a:rPr lang="en" sz="2400"/>
              <a:t>Helps recognize “oddballs”</a:t>
            </a:r>
            <a:endParaRPr sz="2400"/>
          </a:p>
          <a:p>
            <a:pPr marL="0" lvl="0" indent="0" algn="l" rtl="0">
              <a:spcBef>
                <a:spcPts val="1600"/>
              </a:spcBef>
              <a:spcAft>
                <a:spcPts val="1600"/>
              </a:spcAft>
              <a:buNone/>
            </a:pPr>
            <a:r>
              <a:rPr lang="en" sz="2400"/>
              <a:t>May help decide next steps</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9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Data Types</a:t>
            </a:r>
            <a:endParaRPr sz="3000"/>
          </a:p>
        </p:txBody>
      </p:sp>
      <p:sp>
        <p:nvSpPr>
          <p:cNvPr id="645" name="Google Shape;645;p93"/>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Categorical (Qualitative)</a:t>
            </a:r>
            <a:endParaRPr sz="2400"/>
          </a:p>
          <a:p>
            <a:pPr marL="914400" lvl="0" indent="-381000" algn="l" rtl="0">
              <a:spcBef>
                <a:spcPts val="1600"/>
              </a:spcBef>
              <a:spcAft>
                <a:spcPts val="0"/>
              </a:spcAft>
              <a:buSzPts val="2400"/>
              <a:buAutoNum type="arabicPeriod"/>
            </a:pPr>
            <a:r>
              <a:rPr lang="en" sz="2400"/>
              <a:t>Data that can be classified into categories</a:t>
            </a:r>
            <a:endParaRPr sz="2400"/>
          </a:p>
          <a:p>
            <a:pPr marL="914400" lvl="0" indent="-381000" algn="l" rtl="0">
              <a:spcBef>
                <a:spcPts val="0"/>
              </a:spcBef>
              <a:spcAft>
                <a:spcPts val="0"/>
              </a:spcAft>
              <a:buSzPts val="2400"/>
              <a:buAutoNum type="arabicPeriod"/>
            </a:pPr>
            <a:r>
              <a:rPr lang="en" sz="2400"/>
              <a:t>Nominal or Ordinal</a:t>
            </a:r>
            <a:endParaRPr sz="1800"/>
          </a:p>
          <a:p>
            <a:pPr marL="0" lvl="0" indent="0" algn="l" rtl="0">
              <a:spcBef>
                <a:spcPts val="1600"/>
              </a:spcBef>
              <a:spcAft>
                <a:spcPts val="0"/>
              </a:spcAft>
              <a:buNone/>
            </a:pPr>
            <a:r>
              <a:rPr lang="en" sz="2400"/>
              <a:t>Numerical (Quantitative)</a:t>
            </a:r>
            <a:endParaRPr sz="2400"/>
          </a:p>
          <a:p>
            <a:pPr marL="914400" lvl="0" indent="-381000" algn="l" rtl="0">
              <a:spcBef>
                <a:spcPts val="1600"/>
              </a:spcBef>
              <a:spcAft>
                <a:spcPts val="0"/>
              </a:spcAft>
              <a:buSzPts val="2400"/>
              <a:buAutoNum type="arabicPeriod"/>
            </a:pPr>
            <a:r>
              <a:rPr lang="en" sz="2400"/>
              <a:t>Data that can be counted or measured</a:t>
            </a:r>
            <a:endParaRPr sz="2400"/>
          </a:p>
          <a:p>
            <a:pPr marL="914400" lvl="0" indent="-381000" algn="l" rtl="0">
              <a:spcBef>
                <a:spcPts val="0"/>
              </a:spcBef>
              <a:spcAft>
                <a:spcPts val="0"/>
              </a:spcAft>
              <a:buSzPts val="2400"/>
              <a:buAutoNum type="arabicPeriod"/>
            </a:pPr>
            <a:r>
              <a:rPr lang="en" sz="2400"/>
              <a:t>Discrete or Continuous</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4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9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Categorical Data - </a:t>
            </a:r>
            <a:r>
              <a:rPr lang="en" sz="3000" b="1">
                <a:solidFill>
                  <a:schemeClr val="lt2"/>
                </a:solidFill>
              </a:rPr>
              <a:t>Nominal</a:t>
            </a:r>
            <a:endParaRPr sz="3000" b="1">
              <a:solidFill>
                <a:schemeClr val="lt2"/>
              </a:solidFill>
            </a:endParaRPr>
          </a:p>
        </p:txBody>
      </p:sp>
      <p:sp>
        <p:nvSpPr>
          <p:cNvPr id="651" name="Google Shape;651;p9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Data that is labeled without a numerical value</a:t>
            </a:r>
            <a:endParaRPr sz="2400"/>
          </a:p>
          <a:p>
            <a:pPr marL="0" lvl="0" indent="0" algn="l" rtl="0">
              <a:spcBef>
                <a:spcPts val="1600"/>
              </a:spcBef>
              <a:spcAft>
                <a:spcPts val="0"/>
              </a:spcAft>
              <a:buNone/>
            </a:pPr>
            <a:r>
              <a:rPr lang="en" sz="2400"/>
              <a:t>No order involved with the labels</a:t>
            </a:r>
            <a:endParaRPr sz="2400"/>
          </a:p>
          <a:p>
            <a:pPr marL="0" lvl="0" indent="0" algn="l" rtl="0">
              <a:spcBef>
                <a:spcPts val="1600"/>
              </a:spcBef>
              <a:spcAft>
                <a:spcPts val="0"/>
              </a:spcAft>
              <a:buNone/>
            </a:pPr>
            <a:endParaRPr sz="2400"/>
          </a:p>
          <a:p>
            <a:pPr marL="0" lvl="0" indent="0" algn="ctr" rtl="0">
              <a:spcBef>
                <a:spcPts val="1600"/>
              </a:spcBef>
              <a:spcAft>
                <a:spcPts val="1600"/>
              </a:spcAft>
              <a:buNone/>
            </a:pPr>
            <a:endParaRPr sz="2400"/>
          </a:p>
        </p:txBody>
      </p:sp>
      <p:pic>
        <p:nvPicPr>
          <p:cNvPr id="652" name="Google Shape;652;p94"/>
          <p:cNvPicPr preferRelativeResize="0"/>
          <p:nvPr/>
        </p:nvPicPr>
        <p:blipFill>
          <a:blip r:embed="rId3">
            <a:alphaModFix/>
          </a:blip>
          <a:stretch>
            <a:fillRect/>
          </a:stretch>
        </p:blipFill>
        <p:spPr>
          <a:xfrm>
            <a:off x="284800" y="3097500"/>
            <a:ext cx="2397900" cy="1798425"/>
          </a:xfrm>
          <a:prstGeom prst="rect">
            <a:avLst/>
          </a:prstGeom>
          <a:noFill/>
          <a:ln>
            <a:noFill/>
          </a:ln>
        </p:spPr>
      </p:pic>
      <p:pic>
        <p:nvPicPr>
          <p:cNvPr id="653" name="Google Shape;653;p94"/>
          <p:cNvPicPr preferRelativeResize="0"/>
          <p:nvPr/>
        </p:nvPicPr>
        <p:blipFill>
          <a:blip r:embed="rId4">
            <a:alphaModFix/>
          </a:blip>
          <a:stretch>
            <a:fillRect/>
          </a:stretch>
        </p:blipFill>
        <p:spPr>
          <a:xfrm>
            <a:off x="3293346" y="3097492"/>
            <a:ext cx="2397899" cy="1798434"/>
          </a:xfrm>
          <a:prstGeom prst="rect">
            <a:avLst/>
          </a:prstGeom>
          <a:noFill/>
          <a:ln>
            <a:noFill/>
          </a:ln>
        </p:spPr>
      </p:pic>
      <p:pic>
        <p:nvPicPr>
          <p:cNvPr id="654" name="Google Shape;654;p94"/>
          <p:cNvPicPr preferRelativeResize="0"/>
          <p:nvPr/>
        </p:nvPicPr>
        <p:blipFill>
          <a:blip r:embed="rId5">
            <a:alphaModFix/>
          </a:blip>
          <a:stretch>
            <a:fillRect/>
          </a:stretch>
        </p:blipFill>
        <p:spPr>
          <a:xfrm>
            <a:off x="6288275" y="3130699"/>
            <a:ext cx="2596048" cy="1732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9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Categorical Data - </a:t>
            </a:r>
            <a:r>
              <a:rPr lang="en" sz="3000" b="1">
                <a:solidFill>
                  <a:schemeClr val="lt2"/>
                </a:solidFill>
              </a:rPr>
              <a:t>Ordinal</a:t>
            </a:r>
            <a:endParaRPr sz="3000" b="1">
              <a:solidFill>
                <a:schemeClr val="lt2"/>
              </a:solidFill>
            </a:endParaRPr>
          </a:p>
        </p:txBody>
      </p:sp>
      <p:sp>
        <p:nvSpPr>
          <p:cNvPr id="660" name="Google Shape;660;p9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Data that is labeled into categories with order</a:t>
            </a:r>
            <a:endParaRPr sz="2400"/>
          </a:p>
          <a:p>
            <a:pPr marL="0" lvl="0" indent="0" algn="l" rtl="0">
              <a:spcBef>
                <a:spcPts val="1600"/>
              </a:spcBef>
              <a:spcAft>
                <a:spcPts val="0"/>
              </a:spcAft>
              <a:buNone/>
            </a:pPr>
            <a:r>
              <a:rPr lang="en" sz="2400"/>
              <a:t>Can be a number but numbers are not a measure</a:t>
            </a:r>
            <a:endParaRPr sz="2400"/>
          </a:p>
          <a:p>
            <a:pPr marL="0" lvl="0" indent="0" algn="l" rtl="0">
              <a:spcBef>
                <a:spcPts val="1600"/>
              </a:spcBef>
              <a:spcAft>
                <a:spcPts val="1600"/>
              </a:spcAft>
              <a:buNone/>
            </a:pPr>
            <a:r>
              <a:rPr lang="en" sz="2400"/>
              <a:t>Ex. Evaluation scale (1-5), spiciness, etc.</a:t>
            </a:r>
            <a:endParaRPr sz="2400"/>
          </a:p>
        </p:txBody>
      </p:sp>
      <p:pic>
        <p:nvPicPr>
          <p:cNvPr id="661" name="Google Shape;661;p95"/>
          <p:cNvPicPr preferRelativeResize="0"/>
          <p:nvPr/>
        </p:nvPicPr>
        <p:blipFill>
          <a:blip r:embed="rId3">
            <a:alphaModFix/>
          </a:blip>
          <a:stretch>
            <a:fillRect/>
          </a:stretch>
        </p:blipFill>
        <p:spPr>
          <a:xfrm>
            <a:off x="3541425" y="3505575"/>
            <a:ext cx="2061150" cy="13737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9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Numerical Data - </a:t>
            </a:r>
            <a:r>
              <a:rPr lang="en" sz="3000" b="1">
                <a:solidFill>
                  <a:schemeClr val="lt2"/>
                </a:solidFill>
              </a:rPr>
              <a:t>Discrete</a:t>
            </a:r>
            <a:endParaRPr sz="3000" b="1">
              <a:solidFill>
                <a:schemeClr val="lt2"/>
              </a:solidFill>
            </a:endParaRPr>
          </a:p>
        </p:txBody>
      </p:sp>
      <p:sp>
        <p:nvSpPr>
          <p:cNvPr id="667" name="Google Shape;667;p9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Round, discrete numbers that can be counted</a:t>
            </a:r>
            <a:endParaRPr sz="2400"/>
          </a:p>
          <a:p>
            <a:pPr marL="0" lvl="0" indent="0" algn="l" rtl="0">
              <a:spcBef>
                <a:spcPts val="1600"/>
              </a:spcBef>
              <a:spcAft>
                <a:spcPts val="0"/>
              </a:spcAft>
              <a:buNone/>
            </a:pPr>
            <a:r>
              <a:rPr lang="en" sz="2400"/>
              <a:t>Data with finite number of values</a:t>
            </a:r>
            <a:endParaRPr sz="2400"/>
          </a:p>
          <a:p>
            <a:pPr marL="0" lvl="0" indent="0" algn="l" rtl="0">
              <a:spcBef>
                <a:spcPts val="1600"/>
              </a:spcBef>
              <a:spcAft>
                <a:spcPts val="0"/>
              </a:spcAft>
              <a:buNone/>
            </a:pPr>
            <a:r>
              <a:rPr lang="en" sz="2400"/>
              <a:t>Ex. # of students, # of pets, etc.</a:t>
            </a:r>
            <a:endParaRPr sz="2400"/>
          </a:p>
          <a:p>
            <a:pPr marL="0" lvl="0" indent="0" algn="l" rtl="0">
              <a:spcBef>
                <a:spcPts val="1600"/>
              </a:spcBef>
              <a:spcAft>
                <a:spcPts val="0"/>
              </a:spcAft>
              <a:buNone/>
            </a:pPr>
            <a:endParaRPr sz="2400"/>
          </a:p>
          <a:p>
            <a:pPr marL="0" lvl="0" indent="0" algn="ctr" rtl="0">
              <a:spcBef>
                <a:spcPts val="1600"/>
              </a:spcBef>
              <a:spcAft>
                <a:spcPts val="1600"/>
              </a:spcAft>
              <a:buNone/>
            </a:pPr>
            <a:endParaRPr sz="2400"/>
          </a:p>
        </p:txBody>
      </p:sp>
      <p:pic>
        <p:nvPicPr>
          <p:cNvPr id="668" name="Google Shape;668;p96"/>
          <p:cNvPicPr preferRelativeResize="0"/>
          <p:nvPr/>
        </p:nvPicPr>
        <p:blipFill>
          <a:blip r:embed="rId3">
            <a:alphaModFix/>
          </a:blip>
          <a:stretch>
            <a:fillRect/>
          </a:stretch>
        </p:blipFill>
        <p:spPr>
          <a:xfrm>
            <a:off x="6304400" y="3048525"/>
            <a:ext cx="1858225" cy="18968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9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Numerical Data - </a:t>
            </a:r>
            <a:r>
              <a:rPr lang="en" sz="3000" b="1">
                <a:solidFill>
                  <a:schemeClr val="lt2"/>
                </a:solidFill>
              </a:rPr>
              <a:t>Continuous</a:t>
            </a:r>
            <a:endParaRPr sz="3000" b="1">
              <a:solidFill>
                <a:schemeClr val="lt2"/>
              </a:solidFill>
            </a:endParaRPr>
          </a:p>
        </p:txBody>
      </p:sp>
      <p:sp>
        <p:nvSpPr>
          <p:cNvPr id="674" name="Google Shape;674;p97"/>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Numerical data that is measurable</a:t>
            </a:r>
            <a:endParaRPr sz="2400"/>
          </a:p>
          <a:p>
            <a:pPr marL="0" lvl="0" indent="0" algn="l" rtl="0">
              <a:spcBef>
                <a:spcPts val="1600"/>
              </a:spcBef>
              <a:spcAft>
                <a:spcPts val="0"/>
              </a:spcAft>
              <a:buNone/>
            </a:pPr>
            <a:r>
              <a:rPr lang="en" sz="2400"/>
              <a:t>Data that can take on infinite values</a:t>
            </a:r>
            <a:endParaRPr sz="2400"/>
          </a:p>
          <a:p>
            <a:pPr marL="0" lvl="0" indent="0" algn="l" rtl="0">
              <a:spcBef>
                <a:spcPts val="1600"/>
              </a:spcBef>
              <a:spcAft>
                <a:spcPts val="0"/>
              </a:spcAft>
              <a:buNone/>
            </a:pPr>
            <a:r>
              <a:rPr lang="en" sz="2400"/>
              <a:t>Ex. Height, temperature, etc.</a:t>
            </a:r>
            <a:endParaRPr sz="2400"/>
          </a:p>
          <a:p>
            <a:pPr marL="0" lvl="0" indent="0" algn="ctr" rtl="0">
              <a:spcBef>
                <a:spcPts val="1600"/>
              </a:spcBef>
              <a:spcAft>
                <a:spcPts val="1600"/>
              </a:spcAft>
              <a:buNone/>
            </a:pPr>
            <a:endParaRPr sz="2400"/>
          </a:p>
        </p:txBody>
      </p:sp>
      <p:pic>
        <p:nvPicPr>
          <p:cNvPr id="675" name="Google Shape;675;p97"/>
          <p:cNvPicPr preferRelativeResize="0"/>
          <p:nvPr/>
        </p:nvPicPr>
        <p:blipFill>
          <a:blip r:embed="rId3">
            <a:alphaModFix/>
          </a:blip>
          <a:stretch>
            <a:fillRect/>
          </a:stretch>
        </p:blipFill>
        <p:spPr>
          <a:xfrm>
            <a:off x="3221325" y="3568650"/>
            <a:ext cx="2701350" cy="13506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98"/>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a:p>
          <a:p>
            <a:pPr marL="0" lvl="0" indent="0" algn="ctr" rtl="0">
              <a:spcBef>
                <a:spcPts val="1600"/>
              </a:spcBef>
              <a:spcAft>
                <a:spcPts val="1600"/>
              </a:spcAft>
              <a:buNone/>
            </a:pPr>
            <a:endParaRPr sz="2400"/>
          </a:p>
        </p:txBody>
      </p:sp>
      <p:pic>
        <p:nvPicPr>
          <p:cNvPr id="681" name="Google Shape;681;p98"/>
          <p:cNvPicPr preferRelativeResize="0"/>
          <p:nvPr/>
        </p:nvPicPr>
        <p:blipFill>
          <a:blip r:embed="rId3">
            <a:alphaModFix/>
          </a:blip>
          <a:stretch>
            <a:fillRect/>
          </a:stretch>
        </p:blipFill>
        <p:spPr>
          <a:xfrm>
            <a:off x="1731175" y="302663"/>
            <a:ext cx="6171550" cy="4538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9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Nominal, Ordinal, Discrete, or Continuous?</a:t>
            </a:r>
            <a:endParaRPr sz="3000"/>
          </a:p>
        </p:txBody>
      </p:sp>
      <p:sp>
        <p:nvSpPr>
          <p:cNvPr id="687" name="Google Shape;687;p99"/>
          <p:cNvSpPr txBox="1">
            <a:spLocks noGrp="1"/>
          </p:cNvSpPr>
          <p:nvPr>
            <p:ph type="body" idx="1"/>
          </p:nvPr>
        </p:nvSpPr>
        <p:spPr>
          <a:xfrm>
            <a:off x="1297500" y="1567550"/>
            <a:ext cx="7038900" cy="2911200"/>
          </a:xfrm>
          <a:prstGeom prst="rect">
            <a:avLst/>
          </a:prstGeom>
          <a:noFill/>
        </p:spPr>
        <p:txBody>
          <a:bodyPr spcFirstLastPara="1" wrap="square" lIns="91425" tIns="91425" rIns="91425" bIns="91425" anchor="t" anchorCtr="0">
            <a:noAutofit/>
          </a:bodyPr>
          <a:lstStyle/>
          <a:p>
            <a:pPr marL="0" lvl="0" indent="0" algn="l" rtl="0">
              <a:spcBef>
                <a:spcPts val="0"/>
              </a:spcBef>
              <a:spcAft>
                <a:spcPts val="1600"/>
              </a:spcAft>
              <a:buNone/>
            </a:pPr>
            <a:r>
              <a:rPr lang="en" sz="2400"/>
              <a:t>Year of birth</a:t>
            </a:r>
            <a:br>
              <a:rPr lang="en" sz="2400"/>
            </a:br>
            <a:r>
              <a:rPr lang="en" sz="2400"/>
              <a:t>Weight</a:t>
            </a:r>
            <a:br>
              <a:rPr lang="en" sz="2400"/>
            </a:br>
            <a:r>
              <a:rPr lang="en" sz="2400"/>
              <a:t>Company size</a:t>
            </a:r>
            <a:br>
              <a:rPr lang="en" sz="2400"/>
            </a:br>
            <a:r>
              <a:rPr lang="en" sz="2400"/>
              <a:t>Strength of coffee</a:t>
            </a:r>
            <a:br>
              <a:rPr lang="en" sz="2400"/>
            </a:br>
            <a:r>
              <a:rPr lang="en" sz="2400"/>
              <a:t>Favorite sport</a:t>
            </a:r>
            <a:br>
              <a:rPr lang="en" sz="2400"/>
            </a:br>
            <a:r>
              <a:rPr lang="en" sz="2400"/>
              <a:t>Time to get to work</a:t>
            </a:r>
            <a:br>
              <a:rPr lang="en" sz="2400"/>
            </a:b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10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Data Type vs. Measures of Central Tendency</a:t>
            </a:r>
            <a:endParaRPr sz="3000" b="1">
              <a:solidFill>
                <a:schemeClr val="lt2"/>
              </a:solidFill>
            </a:endParaRPr>
          </a:p>
        </p:txBody>
      </p:sp>
      <p:sp>
        <p:nvSpPr>
          <p:cNvPr id="693" name="Google Shape;693;p100"/>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a:p>
          <a:p>
            <a:pPr marL="0" lvl="0" indent="0" algn="ctr" rtl="0">
              <a:spcBef>
                <a:spcPts val="1600"/>
              </a:spcBef>
              <a:spcAft>
                <a:spcPts val="1600"/>
              </a:spcAft>
              <a:buNone/>
            </a:pPr>
            <a:endParaRPr sz="2400"/>
          </a:p>
        </p:txBody>
      </p:sp>
      <p:graphicFrame>
        <p:nvGraphicFramePr>
          <p:cNvPr id="694" name="Google Shape;694;p100"/>
          <p:cNvGraphicFramePr/>
          <p:nvPr/>
        </p:nvGraphicFramePr>
        <p:xfrm>
          <a:off x="952500" y="1929738"/>
          <a:ext cx="7239000" cy="2194440"/>
        </p:xfrm>
        <a:graphic>
          <a:graphicData uri="http://schemas.openxmlformats.org/drawingml/2006/table">
            <a:tbl>
              <a:tblPr>
                <a:noFill/>
                <a:tableStyleId>{450DAD7F-6C3D-44DA-B44C-F0A5328448DC}</a:tableStyleId>
              </a:tblPr>
              <a:tblGrid>
                <a:gridCol w="1447800">
                  <a:extLst>
                    <a:ext uri="{9D8B030D-6E8A-4147-A177-3AD203B41FA5}">
                      <a16:colId xmlns:a16="http://schemas.microsoft.com/office/drawing/2014/main" val="20000"/>
                    </a:ext>
                  </a:extLst>
                </a:gridCol>
                <a:gridCol w="1323975">
                  <a:extLst>
                    <a:ext uri="{9D8B030D-6E8A-4147-A177-3AD203B41FA5}">
                      <a16:colId xmlns:a16="http://schemas.microsoft.com/office/drawing/2014/main" val="20001"/>
                    </a:ext>
                  </a:extLst>
                </a:gridCol>
                <a:gridCol w="1323925">
                  <a:extLst>
                    <a:ext uri="{9D8B030D-6E8A-4147-A177-3AD203B41FA5}">
                      <a16:colId xmlns:a16="http://schemas.microsoft.com/office/drawing/2014/main" val="20002"/>
                    </a:ext>
                  </a:extLst>
                </a:gridCol>
                <a:gridCol w="1348750">
                  <a:extLst>
                    <a:ext uri="{9D8B030D-6E8A-4147-A177-3AD203B41FA5}">
                      <a16:colId xmlns:a16="http://schemas.microsoft.com/office/drawing/2014/main" val="20003"/>
                    </a:ext>
                  </a:extLst>
                </a:gridCol>
                <a:gridCol w="1794550">
                  <a:extLst>
                    <a:ext uri="{9D8B030D-6E8A-4147-A177-3AD203B41FA5}">
                      <a16:colId xmlns:a16="http://schemas.microsoft.com/office/drawing/2014/main" val="20004"/>
                    </a:ext>
                  </a:extLst>
                </a:gridCol>
              </a:tblGrid>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 sz="2400">
                          <a:solidFill>
                            <a:schemeClr val="lt1"/>
                          </a:solidFill>
                          <a:latin typeface="Lato"/>
                          <a:ea typeface="Lato"/>
                          <a:cs typeface="Lato"/>
                          <a:sym typeface="Lato"/>
                        </a:rPr>
                        <a:t>Nominal</a:t>
                      </a:r>
                      <a:endParaRPr sz="2400">
                        <a:solidFill>
                          <a:schemeClr val="lt1"/>
                        </a:solidFill>
                        <a:latin typeface="Lato"/>
                        <a:ea typeface="Lato"/>
                        <a:cs typeface="Lato"/>
                        <a:sym typeface="Lato"/>
                      </a:endParaRPr>
                    </a:p>
                  </a:txBody>
                  <a:tcPr marL="91425" marR="91425" marT="91425" marB="91425"/>
                </a:tc>
                <a:tc>
                  <a:txBody>
                    <a:bodyPr/>
                    <a:lstStyle/>
                    <a:p>
                      <a:pPr marL="0" lvl="0" indent="0" algn="l" rtl="0">
                        <a:spcBef>
                          <a:spcPts val="0"/>
                        </a:spcBef>
                        <a:spcAft>
                          <a:spcPts val="0"/>
                        </a:spcAft>
                        <a:buNone/>
                      </a:pPr>
                      <a:r>
                        <a:rPr lang="en" sz="2400">
                          <a:solidFill>
                            <a:schemeClr val="lt1"/>
                          </a:solidFill>
                          <a:latin typeface="Lato"/>
                          <a:ea typeface="Lato"/>
                          <a:cs typeface="Lato"/>
                          <a:sym typeface="Lato"/>
                        </a:rPr>
                        <a:t>Ordinal</a:t>
                      </a:r>
                      <a:endParaRPr sz="2400">
                        <a:solidFill>
                          <a:schemeClr val="lt1"/>
                        </a:solidFill>
                        <a:latin typeface="Lato"/>
                        <a:ea typeface="Lato"/>
                        <a:cs typeface="Lato"/>
                        <a:sym typeface="Lato"/>
                      </a:endParaRPr>
                    </a:p>
                  </a:txBody>
                  <a:tcPr marL="91425" marR="91425" marT="91425" marB="91425"/>
                </a:tc>
                <a:tc>
                  <a:txBody>
                    <a:bodyPr/>
                    <a:lstStyle/>
                    <a:p>
                      <a:pPr marL="0" lvl="0" indent="0" algn="l" rtl="0">
                        <a:spcBef>
                          <a:spcPts val="0"/>
                        </a:spcBef>
                        <a:spcAft>
                          <a:spcPts val="0"/>
                        </a:spcAft>
                        <a:buNone/>
                      </a:pPr>
                      <a:r>
                        <a:rPr lang="en" sz="2400">
                          <a:solidFill>
                            <a:schemeClr val="lt1"/>
                          </a:solidFill>
                          <a:latin typeface="Lato"/>
                          <a:ea typeface="Lato"/>
                          <a:cs typeface="Lato"/>
                          <a:sym typeface="Lato"/>
                        </a:rPr>
                        <a:t>Discrete</a:t>
                      </a:r>
                      <a:endParaRPr sz="2400">
                        <a:solidFill>
                          <a:schemeClr val="lt1"/>
                        </a:solidFill>
                        <a:latin typeface="Lato"/>
                        <a:ea typeface="Lato"/>
                        <a:cs typeface="Lato"/>
                        <a:sym typeface="Lato"/>
                      </a:endParaRPr>
                    </a:p>
                  </a:txBody>
                  <a:tcPr marL="91425" marR="91425" marT="91425" marB="91425"/>
                </a:tc>
                <a:tc>
                  <a:txBody>
                    <a:bodyPr/>
                    <a:lstStyle/>
                    <a:p>
                      <a:pPr marL="0" lvl="0" indent="0" algn="l" rtl="0">
                        <a:spcBef>
                          <a:spcPts val="0"/>
                        </a:spcBef>
                        <a:spcAft>
                          <a:spcPts val="0"/>
                        </a:spcAft>
                        <a:buNone/>
                      </a:pPr>
                      <a:r>
                        <a:rPr lang="en" sz="2400">
                          <a:solidFill>
                            <a:schemeClr val="lt1"/>
                          </a:solidFill>
                          <a:latin typeface="Lato"/>
                          <a:ea typeface="Lato"/>
                          <a:cs typeface="Lato"/>
                          <a:sym typeface="Lato"/>
                        </a:rPr>
                        <a:t>Continuous</a:t>
                      </a:r>
                      <a:endParaRPr sz="2400">
                        <a:solidFill>
                          <a:schemeClr val="lt1"/>
                        </a:solidFill>
                        <a:latin typeface="Lato"/>
                        <a:ea typeface="Lato"/>
                        <a:cs typeface="Lato"/>
                        <a:sym typeface="Lato"/>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2400">
                          <a:solidFill>
                            <a:schemeClr val="lt1"/>
                          </a:solidFill>
                          <a:latin typeface="Lato"/>
                          <a:ea typeface="Lato"/>
                          <a:cs typeface="Lato"/>
                          <a:sym typeface="Lato"/>
                        </a:rPr>
                        <a:t>Mode</a:t>
                      </a:r>
                      <a:endParaRPr sz="2400">
                        <a:solidFill>
                          <a:schemeClr val="lt1"/>
                        </a:solidFill>
                        <a:latin typeface="Lato"/>
                        <a:ea typeface="Lato"/>
                        <a:cs typeface="Lato"/>
                        <a:sym typeface="Lato"/>
                      </a:endParaRPr>
                    </a:p>
                  </a:txBody>
                  <a:tcPr marL="91425" marR="91425" marT="91425" marB="91425"/>
                </a:tc>
                <a:tc>
                  <a:txBody>
                    <a:bodyPr/>
                    <a:lstStyle/>
                    <a:p>
                      <a:pPr marL="0" lvl="0" indent="0" algn="ctr" rtl="0">
                        <a:spcBef>
                          <a:spcPts val="0"/>
                        </a:spcBef>
                        <a:spcAft>
                          <a:spcPts val="0"/>
                        </a:spcAft>
                        <a:buNone/>
                      </a:pPr>
                      <a:r>
                        <a:rPr lang="en" sz="2400">
                          <a:solidFill>
                            <a:schemeClr val="lt1"/>
                          </a:solidFill>
                          <a:latin typeface="Lato"/>
                          <a:ea typeface="Lato"/>
                          <a:cs typeface="Lato"/>
                          <a:sym typeface="Lato"/>
                        </a:rPr>
                        <a:t>x</a:t>
                      </a:r>
                      <a:endParaRPr sz="2400">
                        <a:solidFill>
                          <a:schemeClr val="lt1"/>
                        </a:solidFill>
                        <a:latin typeface="Lato"/>
                        <a:ea typeface="Lato"/>
                        <a:cs typeface="Lato"/>
                        <a:sym typeface="Lato"/>
                      </a:endParaRPr>
                    </a:p>
                  </a:txBody>
                  <a:tcPr marL="91425" marR="91425" marT="91425" marB="91425" anchor="ctr"/>
                </a:tc>
                <a:tc>
                  <a:txBody>
                    <a:bodyPr/>
                    <a:lstStyle/>
                    <a:p>
                      <a:pPr marL="0" lvl="0" indent="0" algn="ctr" rtl="0">
                        <a:spcBef>
                          <a:spcPts val="0"/>
                        </a:spcBef>
                        <a:spcAft>
                          <a:spcPts val="0"/>
                        </a:spcAft>
                        <a:buNone/>
                      </a:pPr>
                      <a:r>
                        <a:rPr lang="en" sz="2400">
                          <a:solidFill>
                            <a:schemeClr val="lt1"/>
                          </a:solidFill>
                          <a:latin typeface="Lato"/>
                          <a:ea typeface="Lato"/>
                          <a:cs typeface="Lato"/>
                          <a:sym typeface="Lato"/>
                        </a:rPr>
                        <a:t>x</a:t>
                      </a:r>
                      <a:endParaRPr sz="2400">
                        <a:solidFill>
                          <a:schemeClr val="lt1"/>
                        </a:solidFill>
                        <a:latin typeface="Lato"/>
                        <a:ea typeface="Lato"/>
                        <a:cs typeface="Lato"/>
                        <a:sym typeface="Lato"/>
                      </a:endParaRPr>
                    </a:p>
                  </a:txBody>
                  <a:tcPr marL="91425" marR="91425" marT="91425" marB="91425" anchor="ctr"/>
                </a:tc>
                <a:tc>
                  <a:txBody>
                    <a:bodyPr/>
                    <a:lstStyle/>
                    <a:p>
                      <a:pPr marL="0" lvl="0" indent="0" algn="ctr" rtl="0">
                        <a:spcBef>
                          <a:spcPts val="0"/>
                        </a:spcBef>
                        <a:spcAft>
                          <a:spcPts val="0"/>
                        </a:spcAft>
                        <a:buNone/>
                      </a:pPr>
                      <a:r>
                        <a:rPr lang="en" sz="2400">
                          <a:solidFill>
                            <a:schemeClr val="lt1"/>
                          </a:solidFill>
                          <a:latin typeface="Lato"/>
                          <a:ea typeface="Lato"/>
                          <a:cs typeface="Lato"/>
                          <a:sym typeface="Lato"/>
                        </a:rPr>
                        <a:t>x</a:t>
                      </a:r>
                      <a:endParaRPr sz="2400">
                        <a:solidFill>
                          <a:schemeClr val="lt1"/>
                        </a:solidFill>
                        <a:latin typeface="Lato"/>
                        <a:ea typeface="Lato"/>
                        <a:cs typeface="Lato"/>
                        <a:sym typeface="Lato"/>
                      </a:endParaRPr>
                    </a:p>
                  </a:txBody>
                  <a:tcPr marL="91425" marR="91425" marT="91425" marB="91425" anchor="ctr"/>
                </a:tc>
                <a:tc>
                  <a:txBody>
                    <a:bodyPr/>
                    <a:lstStyle/>
                    <a:p>
                      <a:pPr marL="0" lvl="0" indent="0" algn="ctr" rtl="0">
                        <a:spcBef>
                          <a:spcPts val="0"/>
                        </a:spcBef>
                        <a:spcAft>
                          <a:spcPts val="0"/>
                        </a:spcAft>
                        <a:buNone/>
                      </a:pPr>
                      <a:r>
                        <a:rPr lang="en" sz="2400">
                          <a:solidFill>
                            <a:schemeClr val="lt1"/>
                          </a:solidFill>
                          <a:latin typeface="Lato"/>
                          <a:ea typeface="Lato"/>
                          <a:cs typeface="Lato"/>
                          <a:sym typeface="Lato"/>
                        </a:rPr>
                        <a:t>x</a:t>
                      </a:r>
                      <a:endParaRPr sz="2400">
                        <a:solidFill>
                          <a:schemeClr val="lt1"/>
                        </a:solidFill>
                        <a:latin typeface="Lato"/>
                        <a:ea typeface="Lato"/>
                        <a:cs typeface="Lato"/>
                        <a:sym typeface="Lato"/>
                      </a:endParaRPr>
                    </a:p>
                  </a:txBody>
                  <a:tcPr marL="91425" marR="91425" marT="91425" marB="91425" anchor="ct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2400">
                          <a:solidFill>
                            <a:schemeClr val="lt1"/>
                          </a:solidFill>
                          <a:latin typeface="Lato"/>
                          <a:ea typeface="Lato"/>
                          <a:cs typeface="Lato"/>
                          <a:sym typeface="Lato"/>
                        </a:rPr>
                        <a:t>Median</a:t>
                      </a:r>
                      <a:endParaRPr sz="2400">
                        <a:solidFill>
                          <a:schemeClr val="lt1"/>
                        </a:solidFill>
                        <a:latin typeface="Lato"/>
                        <a:ea typeface="Lato"/>
                        <a:cs typeface="Lato"/>
                        <a:sym typeface="Lato"/>
                      </a:endParaRPr>
                    </a:p>
                  </a:txBody>
                  <a:tcPr marL="91425" marR="91425" marT="91425" marB="91425"/>
                </a:tc>
                <a:tc>
                  <a:txBody>
                    <a:bodyPr/>
                    <a:lstStyle/>
                    <a:p>
                      <a:pPr marL="0" lvl="0" indent="0" algn="l" rtl="0">
                        <a:spcBef>
                          <a:spcPts val="0"/>
                        </a:spcBef>
                        <a:spcAft>
                          <a:spcPts val="0"/>
                        </a:spcAft>
                        <a:buNone/>
                      </a:pPr>
                      <a:endParaRPr sz="2400">
                        <a:solidFill>
                          <a:schemeClr val="lt1"/>
                        </a:solidFill>
                        <a:latin typeface="Lato"/>
                        <a:ea typeface="Lato"/>
                        <a:cs typeface="Lato"/>
                        <a:sym typeface="Lato"/>
                      </a:endParaRPr>
                    </a:p>
                  </a:txBody>
                  <a:tcPr marL="91425" marR="91425" marT="91425" marB="91425"/>
                </a:tc>
                <a:tc>
                  <a:txBody>
                    <a:bodyPr/>
                    <a:lstStyle/>
                    <a:p>
                      <a:pPr marL="0" lvl="0" indent="0" algn="ctr" rtl="0">
                        <a:spcBef>
                          <a:spcPts val="0"/>
                        </a:spcBef>
                        <a:spcAft>
                          <a:spcPts val="0"/>
                        </a:spcAft>
                        <a:buNone/>
                      </a:pPr>
                      <a:r>
                        <a:rPr lang="en" sz="2400">
                          <a:solidFill>
                            <a:schemeClr val="lt1"/>
                          </a:solidFill>
                          <a:latin typeface="Lato"/>
                          <a:ea typeface="Lato"/>
                          <a:cs typeface="Lato"/>
                          <a:sym typeface="Lato"/>
                        </a:rPr>
                        <a:t>x</a:t>
                      </a:r>
                      <a:endParaRPr sz="2400">
                        <a:solidFill>
                          <a:schemeClr val="lt1"/>
                        </a:solidFill>
                        <a:latin typeface="Lato"/>
                        <a:ea typeface="Lato"/>
                        <a:cs typeface="Lato"/>
                        <a:sym typeface="Lato"/>
                      </a:endParaRPr>
                    </a:p>
                  </a:txBody>
                  <a:tcPr marL="91425" marR="91425" marT="91425" marB="91425" anchor="ctr"/>
                </a:tc>
                <a:tc>
                  <a:txBody>
                    <a:bodyPr/>
                    <a:lstStyle/>
                    <a:p>
                      <a:pPr marL="0" lvl="0" indent="0" algn="ctr" rtl="0">
                        <a:spcBef>
                          <a:spcPts val="0"/>
                        </a:spcBef>
                        <a:spcAft>
                          <a:spcPts val="0"/>
                        </a:spcAft>
                        <a:buNone/>
                      </a:pPr>
                      <a:r>
                        <a:rPr lang="en" sz="2400">
                          <a:solidFill>
                            <a:schemeClr val="lt1"/>
                          </a:solidFill>
                          <a:latin typeface="Lato"/>
                          <a:ea typeface="Lato"/>
                          <a:cs typeface="Lato"/>
                          <a:sym typeface="Lato"/>
                        </a:rPr>
                        <a:t>x</a:t>
                      </a:r>
                      <a:endParaRPr sz="2400">
                        <a:solidFill>
                          <a:schemeClr val="lt1"/>
                        </a:solidFill>
                        <a:latin typeface="Lato"/>
                        <a:ea typeface="Lato"/>
                        <a:cs typeface="Lato"/>
                        <a:sym typeface="Lato"/>
                      </a:endParaRPr>
                    </a:p>
                  </a:txBody>
                  <a:tcPr marL="91425" marR="91425" marT="91425" marB="91425" anchor="ctr"/>
                </a:tc>
                <a:tc>
                  <a:txBody>
                    <a:bodyPr/>
                    <a:lstStyle/>
                    <a:p>
                      <a:pPr marL="0" lvl="0" indent="0" algn="ctr" rtl="0">
                        <a:spcBef>
                          <a:spcPts val="0"/>
                        </a:spcBef>
                        <a:spcAft>
                          <a:spcPts val="0"/>
                        </a:spcAft>
                        <a:buNone/>
                      </a:pPr>
                      <a:r>
                        <a:rPr lang="en" sz="2400">
                          <a:solidFill>
                            <a:schemeClr val="lt1"/>
                          </a:solidFill>
                          <a:latin typeface="Lato"/>
                          <a:ea typeface="Lato"/>
                          <a:cs typeface="Lato"/>
                          <a:sym typeface="Lato"/>
                        </a:rPr>
                        <a:t>x</a:t>
                      </a:r>
                      <a:endParaRPr sz="2400">
                        <a:solidFill>
                          <a:schemeClr val="lt1"/>
                        </a:solidFill>
                        <a:latin typeface="Lato"/>
                        <a:ea typeface="Lato"/>
                        <a:cs typeface="Lato"/>
                        <a:sym typeface="Lato"/>
                      </a:endParaRPr>
                    </a:p>
                  </a:txBody>
                  <a:tcPr marL="91425" marR="91425" marT="91425" marB="91425" anchor="ct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2400">
                          <a:solidFill>
                            <a:schemeClr val="lt1"/>
                          </a:solidFill>
                          <a:latin typeface="Lato"/>
                          <a:ea typeface="Lato"/>
                          <a:cs typeface="Lato"/>
                          <a:sym typeface="Lato"/>
                        </a:rPr>
                        <a:t>Mean</a:t>
                      </a:r>
                      <a:endParaRPr sz="2400">
                        <a:solidFill>
                          <a:schemeClr val="lt1"/>
                        </a:solidFill>
                        <a:latin typeface="Lato"/>
                        <a:ea typeface="Lato"/>
                        <a:cs typeface="Lato"/>
                        <a:sym typeface="Lato"/>
                      </a:endParaRPr>
                    </a:p>
                  </a:txBody>
                  <a:tcPr marL="91425" marR="91425" marT="91425" marB="91425"/>
                </a:tc>
                <a:tc>
                  <a:txBody>
                    <a:bodyPr/>
                    <a:lstStyle/>
                    <a:p>
                      <a:pPr marL="0" lvl="0" indent="0" algn="l" rtl="0">
                        <a:spcBef>
                          <a:spcPts val="0"/>
                        </a:spcBef>
                        <a:spcAft>
                          <a:spcPts val="0"/>
                        </a:spcAft>
                        <a:buNone/>
                      </a:pPr>
                      <a:endParaRPr sz="2400">
                        <a:solidFill>
                          <a:schemeClr val="lt1"/>
                        </a:solidFill>
                        <a:latin typeface="Lato"/>
                        <a:ea typeface="Lato"/>
                        <a:cs typeface="Lato"/>
                        <a:sym typeface="Lato"/>
                      </a:endParaRPr>
                    </a:p>
                  </a:txBody>
                  <a:tcPr marL="91425" marR="91425" marT="91425" marB="91425"/>
                </a:tc>
                <a:tc>
                  <a:txBody>
                    <a:bodyPr/>
                    <a:lstStyle/>
                    <a:p>
                      <a:pPr marL="0" lvl="0" indent="0" algn="ctr" rtl="0">
                        <a:spcBef>
                          <a:spcPts val="0"/>
                        </a:spcBef>
                        <a:spcAft>
                          <a:spcPts val="0"/>
                        </a:spcAft>
                        <a:buNone/>
                      </a:pPr>
                      <a:endParaRPr sz="2400">
                        <a:solidFill>
                          <a:schemeClr val="lt1"/>
                        </a:solidFill>
                        <a:latin typeface="Lato"/>
                        <a:ea typeface="Lato"/>
                        <a:cs typeface="Lato"/>
                        <a:sym typeface="Lato"/>
                      </a:endParaRPr>
                    </a:p>
                  </a:txBody>
                  <a:tcPr marL="91425" marR="91425" marT="91425" marB="91425" anchor="ctr"/>
                </a:tc>
                <a:tc>
                  <a:txBody>
                    <a:bodyPr/>
                    <a:lstStyle/>
                    <a:p>
                      <a:pPr marL="0" lvl="0" indent="0" algn="ctr" rtl="0">
                        <a:spcBef>
                          <a:spcPts val="0"/>
                        </a:spcBef>
                        <a:spcAft>
                          <a:spcPts val="0"/>
                        </a:spcAft>
                        <a:buNone/>
                      </a:pPr>
                      <a:r>
                        <a:rPr lang="en" sz="2400">
                          <a:solidFill>
                            <a:schemeClr val="lt1"/>
                          </a:solidFill>
                          <a:latin typeface="Lato"/>
                          <a:ea typeface="Lato"/>
                          <a:cs typeface="Lato"/>
                          <a:sym typeface="Lato"/>
                        </a:rPr>
                        <a:t>x</a:t>
                      </a:r>
                      <a:endParaRPr sz="2400">
                        <a:solidFill>
                          <a:schemeClr val="lt1"/>
                        </a:solidFill>
                        <a:latin typeface="Lato"/>
                        <a:ea typeface="Lato"/>
                        <a:cs typeface="Lato"/>
                        <a:sym typeface="Lato"/>
                      </a:endParaRPr>
                    </a:p>
                  </a:txBody>
                  <a:tcPr marL="91425" marR="91425" marT="91425" marB="91425" anchor="ctr"/>
                </a:tc>
                <a:tc>
                  <a:txBody>
                    <a:bodyPr/>
                    <a:lstStyle/>
                    <a:p>
                      <a:pPr marL="0" lvl="0" indent="0" algn="ctr" rtl="0">
                        <a:spcBef>
                          <a:spcPts val="0"/>
                        </a:spcBef>
                        <a:spcAft>
                          <a:spcPts val="0"/>
                        </a:spcAft>
                        <a:buNone/>
                      </a:pPr>
                      <a:r>
                        <a:rPr lang="en" sz="2400">
                          <a:solidFill>
                            <a:schemeClr val="lt1"/>
                          </a:solidFill>
                          <a:latin typeface="Lato"/>
                          <a:ea typeface="Lato"/>
                          <a:cs typeface="Lato"/>
                          <a:sym typeface="Lato"/>
                        </a:rPr>
                        <a:t>x</a:t>
                      </a:r>
                      <a:endParaRPr sz="2400">
                        <a:solidFill>
                          <a:schemeClr val="lt1"/>
                        </a:solidFill>
                        <a:latin typeface="Lato"/>
                        <a:ea typeface="Lato"/>
                        <a:cs typeface="Lato"/>
                        <a:sym typeface="Lato"/>
                      </a:endParaRPr>
                    </a:p>
                  </a:txBody>
                  <a:tcPr marL="91425" marR="91425" marT="91425" marB="91425" anchor="ct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10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Data Visualization</a:t>
            </a:r>
            <a:endParaRPr sz="3000" b="1">
              <a:solidFill>
                <a:schemeClr val="lt2"/>
              </a:solidFill>
            </a:endParaRPr>
          </a:p>
        </p:txBody>
      </p:sp>
      <p:sp>
        <p:nvSpPr>
          <p:cNvPr id="712" name="Google Shape;712;p103"/>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Graphical display of data</a:t>
            </a:r>
            <a:endParaRPr sz="2400"/>
          </a:p>
          <a:p>
            <a:pPr marL="0" lvl="0" indent="0" algn="l" rtl="0">
              <a:spcBef>
                <a:spcPts val="1600"/>
              </a:spcBef>
              <a:spcAft>
                <a:spcPts val="0"/>
              </a:spcAft>
              <a:buNone/>
            </a:pPr>
            <a:r>
              <a:rPr lang="en" sz="2400"/>
              <a:t>Can convey trends and anomalies more efficiently</a:t>
            </a:r>
            <a:endParaRPr sz="2400"/>
          </a:p>
          <a:p>
            <a:pPr marL="0" lvl="0" indent="0" algn="ctr" rtl="0">
              <a:spcBef>
                <a:spcPts val="1600"/>
              </a:spcBef>
              <a:spcAft>
                <a:spcPts val="1600"/>
              </a:spcAft>
              <a:buNone/>
            </a:pPr>
            <a:endParaRPr sz="2400"/>
          </a:p>
        </p:txBody>
      </p:sp>
      <p:pic>
        <p:nvPicPr>
          <p:cNvPr id="713" name="Google Shape;713;p103"/>
          <p:cNvPicPr preferRelativeResize="0"/>
          <p:nvPr/>
        </p:nvPicPr>
        <p:blipFill>
          <a:blip r:embed="rId3">
            <a:alphaModFix/>
          </a:blip>
          <a:stretch>
            <a:fillRect/>
          </a:stretch>
        </p:blipFill>
        <p:spPr>
          <a:xfrm>
            <a:off x="1481175" y="2950875"/>
            <a:ext cx="6671550" cy="19599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10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Data Visualization</a:t>
            </a:r>
            <a:endParaRPr sz="3000" b="1">
              <a:solidFill>
                <a:schemeClr val="lt2"/>
              </a:solidFill>
            </a:endParaRPr>
          </a:p>
        </p:txBody>
      </p:sp>
      <p:sp>
        <p:nvSpPr>
          <p:cNvPr id="719" name="Google Shape;719;p10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Univariate Exploration</a:t>
            </a:r>
            <a:endParaRPr sz="2400"/>
          </a:p>
          <a:p>
            <a:pPr marL="457200" lvl="0" indent="0" algn="l" rtl="0">
              <a:spcBef>
                <a:spcPts val="1600"/>
              </a:spcBef>
              <a:spcAft>
                <a:spcPts val="0"/>
              </a:spcAft>
              <a:buNone/>
            </a:pPr>
            <a:r>
              <a:rPr lang="en" sz="2400"/>
              <a:t>Explore one variable of a data set</a:t>
            </a:r>
            <a:endParaRPr sz="2400"/>
          </a:p>
          <a:p>
            <a:pPr marL="914400" lvl="0" indent="-381000" algn="l" rtl="0">
              <a:spcBef>
                <a:spcPts val="1600"/>
              </a:spcBef>
              <a:spcAft>
                <a:spcPts val="0"/>
              </a:spcAft>
              <a:buSzPts val="2400"/>
              <a:buAutoNum type="arabicPeriod"/>
            </a:pPr>
            <a:r>
              <a:rPr lang="en" sz="2400"/>
              <a:t>Bar chart</a:t>
            </a:r>
            <a:endParaRPr sz="2400"/>
          </a:p>
          <a:p>
            <a:pPr marL="914400" lvl="0" indent="-381000" algn="l" rtl="0">
              <a:spcBef>
                <a:spcPts val="0"/>
              </a:spcBef>
              <a:spcAft>
                <a:spcPts val="0"/>
              </a:spcAft>
              <a:buSzPts val="2400"/>
              <a:buAutoNum type="arabicPeriod"/>
            </a:pPr>
            <a:r>
              <a:rPr lang="en" sz="2400"/>
              <a:t>Histogram</a:t>
            </a:r>
            <a:endParaRPr sz="2400"/>
          </a:p>
          <a:p>
            <a:pPr marL="914400" lvl="0" indent="-381000" algn="l" rtl="0">
              <a:spcBef>
                <a:spcPts val="0"/>
              </a:spcBef>
              <a:spcAft>
                <a:spcPts val="0"/>
              </a:spcAft>
              <a:buSzPts val="2400"/>
              <a:buAutoNum type="arabicPeriod"/>
            </a:pPr>
            <a:r>
              <a:rPr lang="en" sz="2400"/>
              <a:t>Box plot</a:t>
            </a:r>
            <a:endParaRPr sz="2400"/>
          </a:p>
          <a:p>
            <a:pPr marL="0" lvl="0" indent="0" algn="l" rtl="0">
              <a:spcBef>
                <a:spcPts val="1600"/>
              </a:spcBef>
              <a:spcAft>
                <a:spcPts val="0"/>
              </a:spcAft>
              <a:buNone/>
            </a:pPr>
            <a:endParaRPr sz="2400"/>
          </a:p>
          <a:p>
            <a:pPr marL="0" lvl="0" indent="0" algn="l" rtl="0">
              <a:spcBef>
                <a:spcPts val="1600"/>
              </a:spcBef>
              <a:spcAft>
                <a:spcPts val="0"/>
              </a:spcAft>
              <a:buNone/>
            </a:pPr>
            <a:endParaRPr sz="2400"/>
          </a:p>
          <a:p>
            <a:pPr marL="0" lvl="0" indent="0" algn="ctr" rtl="0">
              <a:spcBef>
                <a:spcPts val="1600"/>
              </a:spcBef>
              <a:spcAft>
                <a:spcPts val="1600"/>
              </a:spcAft>
              <a:buNone/>
            </a:pP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10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Bar Charts</a:t>
            </a:r>
            <a:endParaRPr sz="3000" b="1">
              <a:solidFill>
                <a:schemeClr val="lt2"/>
              </a:solidFill>
            </a:endParaRPr>
          </a:p>
        </p:txBody>
      </p:sp>
      <p:sp>
        <p:nvSpPr>
          <p:cNvPr id="725" name="Google Shape;725;p10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For data organized categorically</a:t>
            </a:r>
            <a:endParaRPr sz="2400"/>
          </a:p>
          <a:p>
            <a:pPr marL="0" lvl="0" indent="0" algn="l" rtl="0">
              <a:spcBef>
                <a:spcPts val="1600"/>
              </a:spcBef>
              <a:spcAft>
                <a:spcPts val="0"/>
              </a:spcAft>
              <a:buNone/>
            </a:pPr>
            <a:r>
              <a:rPr lang="en" sz="2400"/>
              <a:t>Compares different groups</a:t>
            </a:r>
            <a:endParaRPr sz="2400"/>
          </a:p>
          <a:p>
            <a:pPr marL="0" lvl="0" indent="0" algn="l" rtl="0">
              <a:spcBef>
                <a:spcPts val="1600"/>
              </a:spcBef>
              <a:spcAft>
                <a:spcPts val="0"/>
              </a:spcAft>
              <a:buNone/>
            </a:pPr>
            <a:r>
              <a:rPr lang="en" sz="2400"/>
              <a:t>Category vs. Measured Value</a:t>
            </a:r>
            <a:endParaRPr sz="2400"/>
          </a:p>
          <a:p>
            <a:pPr marL="0" lvl="0" indent="0" algn="l" rtl="0">
              <a:spcBef>
                <a:spcPts val="1600"/>
              </a:spcBef>
              <a:spcAft>
                <a:spcPts val="1600"/>
              </a:spcAft>
              <a:buNone/>
            </a:pPr>
            <a:endParaRPr sz="2400"/>
          </a:p>
        </p:txBody>
      </p:sp>
      <p:pic>
        <p:nvPicPr>
          <p:cNvPr id="726" name="Google Shape;726;p105"/>
          <p:cNvPicPr preferRelativeResize="0"/>
          <p:nvPr/>
        </p:nvPicPr>
        <p:blipFill>
          <a:blip r:embed="rId3">
            <a:alphaModFix/>
          </a:blip>
          <a:stretch>
            <a:fillRect/>
          </a:stretch>
        </p:blipFill>
        <p:spPr>
          <a:xfrm>
            <a:off x="1079026" y="1911588"/>
            <a:ext cx="3492974" cy="2223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pic>
        <p:nvPicPr>
          <p:cNvPr id="731" name="Google Shape;731;p106"/>
          <p:cNvPicPr preferRelativeResize="0"/>
          <p:nvPr/>
        </p:nvPicPr>
        <p:blipFill rotWithShape="1">
          <a:blip r:embed="rId3">
            <a:alphaModFix/>
          </a:blip>
          <a:srcRect b="9665"/>
          <a:stretch/>
        </p:blipFill>
        <p:spPr>
          <a:xfrm>
            <a:off x="2012875" y="253975"/>
            <a:ext cx="5608150" cy="4635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10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Histograms</a:t>
            </a:r>
            <a:endParaRPr sz="3000" b="1">
              <a:solidFill>
                <a:schemeClr val="lt2"/>
              </a:solidFill>
            </a:endParaRPr>
          </a:p>
        </p:txBody>
      </p:sp>
      <p:sp>
        <p:nvSpPr>
          <p:cNvPr id="737" name="Google Shape;737;p107"/>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For data organized numerically</a:t>
            </a:r>
            <a:endParaRPr sz="2400"/>
          </a:p>
          <a:p>
            <a:pPr marL="0" lvl="0" indent="0" algn="l" rtl="0">
              <a:spcBef>
                <a:spcPts val="1600"/>
              </a:spcBef>
              <a:spcAft>
                <a:spcPts val="0"/>
              </a:spcAft>
              <a:buNone/>
            </a:pPr>
            <a:r>
              <a:rPr lang="en" sz="2400"/>
              <a:t>Most used for continuous data</a:t>
            </a:r>
            <a:endParaRPr sz="2400"/>
          </a:p>
          <a:p>
            <a:pPr marL="0" lvl="0" indent="0" algn="l" rtl="0">
              <a:spcBef>
                <a:spcPts val="1600"/>
              </a:spcBef>
              <a:spcAft>
                <a:spcPts val="1600"/>
              </a:spcAft>
              <a:buNone/>
            </a:pPr>
            <a:r>
              <a:rPr lang="en" sz="2400"/>
              <a:t>Uses “bins” (range of values) to group</a:t>
            </a:r>
            <a:endParaRPr/>
          </a:p>
        </p:txBody>
      </p:sp>
      <p:pic>
        <p:nvPicPr>
          <p:cNvPr id="738" name="Google Shape;738;p107"/>
          <p:cNvPicPr preferRelativeResize="0"/>
          <p:nvPr/>
        </p:nvPicPr>
        <p:blipFill>
          <a:blip r:embed="rId3">
            <a:alphaModFix/>
          </a:blip>
          <a:stretch>
            <a:fillRect/>
          </a:stretch>
        </p:blipFill>
        <p:spPr>
          <a:xfrm>
            <a:off x="893225" y="1550488"/>
            <a:ext cx="3678775" cy="29453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10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Effect of Bin Size</a:t>
            </a:r>
            <a:endParaRPr sz="3000" b="1">
              <a:solidFill>
                <a:schemeClr val="lt2"/>
              </a:solidFill>
            </a:endParaRPr>
          </a:p>
        </p:txBody>
      </p:sp>
      <p:pic>
        <p:nvPicPr>
          <p:cNvPr id="744" name="Google Shape;744;p108"/>
          <p:cNvPicPr preferRelativeResize="0"/>
          <p:nvPr/>
        </p:nvPicPr>
        <p:blipFill>
          <a:blip r:embed="rId3">
            <a:alphaModFix/>
          </a:blip>
          <a:stretch>
            <a:fillRect/>
          </a:stretch>
        </p:blipFill>
        <p:spPr>
          <a:xfrm>
            <a:off x="1442850" y="1307850"/>
            <a:ext cx="6748212" cy="35308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pic>
        <p:nvPicPr>
          <p:cNvPr id="749" name="Google Shape;749;p109"/>
          <p:cNvPicPr preferRelativeResize="0"/>
          <p:nvPr/>
        </p:nvPicPr>
        <p:blipFill>
          <a:blip r:embed="rId3">
            <a:alphaModFix/>
          </a:blip>
          <a:stretch>
            <a:fillRect/>
          </a:stretch>
        </p:blipFill>
        <p:spPr>
          <a:xfrm>
            <a:off x="3156250" y="3155325"/>
            <a:ext cx="2831499" cy="1737620"/>
          </a:xfrm>
          <a:prstGeom prst="rect">
            <a:avLst/>
          </a:prstGeom>
          <a:noFill/>
          <a:ln>
            <a:noFill/>
          </a:ln>
        </p:spPr>
      </p:pic>
      <p:sp>
        <p:nvSpPr>
          <p:cNvPr id="750" name="Google Shape;750;p10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Skewness with Histogram</a:t>
            </a:r>
            <a:endParaRPr sz="3000" b="1">
              <a:solidFill>
                <a:schemeClr val="lt2"/>
              </a:solidFill>
            </a:endParaRPr>
          </a:p>
        </p:txBody>
      </p:sp>
      <p:pic>
        <p:nvPicPr>
          <p:cNvPr id="751" name="Google Shape;751;p109"/>
          <p:cNvPicPr preferRelativeResize="0"/>
          <p:nvPr/>
        </p:nvPicPr>
        <p:blipFill>
          <a:blip r:embed="rId4">
            <a:alphaModFix/>
          </a:blip>
          <a:stretch>
            <a:fillRect/>
          </a:stretch>
        </p:blipFill>
        <p:spPr>
          <a:xfrm>
            <a:off x="6154350" y="1702936"/>
            <a:ext cx="2831499" cy="1737630"/>
          </a:xfrm>
          <a:prstGeom prst="rect">
            <a:avLst/>
          </a:prstGeom>
          <a:noFill/>
          <a:ln>
            <a:noFill/>
          </a:ln>
        </p:spPr>
      </p:pic>
      <p:pic>
        <p:nvPicPr>
          <p:cNvPr id="752" name="Google Shape;752;p109"/>
          <p:cNvPicPr preferRelativeResize="0"/>
          <p:nvPr/>
        </p:nvPicPr>
        <p:blipFill>
          <a:blip r:embed="rId5">
            <a:alphaModFix/>
          </a:blip>
          <a:stretch>
            <a:fillRect/>
          </a:stretch>
        </p:blipFill>
        <p:spPr>
          <a:xfrm>
            <a:off x="134425" y="1702922"/>
            <a:ext cx="2831499" cy="1737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pic>
        <p:nvPicPr>
          <p:cNvPr id="757" name="Google Shape;757;p110"/>
          <p:cNvPicPr preferRelativeResize="0"/>
          <p:nvPr/>
        </p:nvPicPr>
        <p:blipFill>
          <a:blip r:embed="rId3">
            <a:alphaModFix/>
          </a:blip>
          <a:stretch>
            <a:fillRect/>
          </a:stretch>
        </p:blipFill>
        <p:spPr>
          <a:xfrm>
            <a:off x="1548563" y="349950"/>
            <a:ext cx="6808875" cy="44436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11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Bar Chart or Histogram?</a:t>
            </a:r>
            <a:endParaRPr sz="3000" b="1">
              <a:solidFill>
                <a:schemeClr val="lt2"/>
              </a:solidFill>
            </a:endParaRPr>
          </a:p>
        </p:txBody>
      </p:sp>
      <p:sp>
        <p:nvSpPr>
          <p:cNvPr id="763" name="Google Shape;763;p111"/>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Favorite fruits</a:t>
            </a:r>
            <a:br>
              <a:rPr lang="en" sz="2400"/>
            </a:br>
            <a:r>
              <a:rPr lang="en" sz="2400"/>
              <a:t>Number of people per class</a:t>
            </a:r>
            <a:br>
              <a:rPr lang="en" sz="2400"/>
            </a:br>
            <a:r>
              <a:rPr lang="en" sz="2400"/>
              <a:t>Number of people per age group</a:t>
            </a:r>
            <a:br>
              <a:rPr lang="en" sz="2400"/>
            </a:br>
            <a:r>
              <a:rPr lang="en" sz="2400"/>
              <a:t>Instructor evaluations (5-point scale)</a:t>
            </a:r>
            <a:br>
              <a:rPr lang="en" sz="2400"/>
            </a:br>
            <a:r>
              <a:rPr lang="en" sz="2400"/>
              <a:t>Number of trees per height</a:t>
            </a:r>
            <a:endParaRPr sz="2400"/>
          </a:p>
          <a:p>
            <a:pPr marL="0" lvl="0" indent="0" algn="ctr" rtl="0">
              <a:spcBef>
                <a:spcPts val="1600"/>
              </a:spcBef>
              <a:spcAft>
                <a:spcPts val="1600"/>
              </a:spcAft>
              <a:buNone/>
            </a:pP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11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Box Plots</a:t>
            </a:r>
            <a:endParaRPr sz="3000" b="1">
              <a:solidFill>
                <a:schemeClr val="lt2"/>
              </a:solidFill>
            </a:endParaRPr>
          </a:p>
        </p:txBody>
      </p:sp>
      <p:sp>
        <p:nvSpPr>
          <p:cNvPr id="769" name="Google Shape;769;p112"/>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5-number summary</a:t>
            </a:r>
            <a:endParaRPr sz="2400"/>
          </a:p>
          <a:p>
            <a:pPr marL="0" lvl="0" indent="0" algn="l" rtl="0">
              <a:spcBef>
                <a:spcPts val="1600"/>
              </a:spcBef>
              <a:spcAft>
                <a:spcPts val="0"/>
              </a:spcAft>
              <a:buNone/>
            </a:pPr>
            <a:r>
              <a:rPr lang="en" sz="2400"/>
              <a:t>Display data by quartiles</a:t>
            </a:r>
            <a:endParaRPr sz="2400"/>
          </a:p>
          <a:p>
            <a:pPr marL="0" lvl="0" indent="0" algn="l" rtl="0">
              <a:spcBef>
                <a:spcPts val="1600"/>
              </a:spcBef>
              <a:spcAft>
                <a:spcPts val="1600"/>
              </a:spcAft>
              <a:buNone/>
            </a:pPr>
            <a:r>
              <a:rPr lang="en" sz="2400"/>
              <a:t>Highlights spread of data</a:t>
            </a:r>
            <a:endParaRPr sz="2400"/>
          </a:p>
        </p:txBody>
      </p:sp>
      <p:pic>
        <p:nvPicPr>
          <p:cNvPr id="770" name="Google Shape;770;p112"/>
          <p:cNvPicPr preferRelativeResize="0"/>
          <p:nvPr/>
        </p:nvPicPr>
        <p:blipFill rotWithShape="1">
          <a:blip r:embed="rId3">
            <a:alphaModFix/>
          </a:blip>
          <a:srcRect l="18964" t="11167" r="27065" b="22321"/>
          <a:stretch/>
        </p:blipFill>
        <p:spPr>
          <a:xfrm>
            <a:off x="1155713" y="1508175"/>
            <a:ext cx="3153799" cy="30299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pic>
        <p:nvPicPr>
          <p:cNvPr id="3" name="Picture 2">
            <a:extLst>
              <a:ext uri="{FF2B5EF4-FFF2-40B4-BE49-F238E27FC236}">
                <a16:creationId xmlns:a16="http://schemas.microsoft.com/office/drawing/2014/main" id="{D220C963-5E1B-2FE3-4E88-D6EEBA40B12E}"/>
              </a:ext>
            </a:extLst>
          </p:cNvPr>
          <p:cNvPicPr>
            <a:picLocks noChangeAspect="1"/>
          </p:cNvPicPr>
          <p:nvPr/>
        </p:nvPicPr>
        <p:blipFill>
          <a:blip r:embed="rId3"/>
          <a:stretch>
            <a:fillRect/>
          </a:stretch>
        </p:blipFill>
        <p:spPr>
          <a:xfrm>
            <a:off x="2100984" y="453736"/>
            <a:ext cx="4942032" cy="423602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p11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Why visualization?</a:t>
            </a:r>
            <a:endParaRPr sz="3000" b="1">
              <a:solidFill>
                <a:schemeClr val="lt2"/>
              </a:solidFill>
            </a:endParaRPr>
          </a:p>
        </p:txBody>
      </p:sp>
      <p:sp>
        <p:nvSpPr>
          <p:cNvPr id="788" name="Google Shape;788;p11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90% of information transmitted to the brain is visual</a:t>
            </a:r>
            <a:endParaRPr sz="2400"/>
          </a:p>
          <a:p>
            <a:pPr marL="0" lvl="0" indent="0" algn="l" rtl="0">
              <a:spcBef>
                <a:spcPts val="1600"/>
              </a:spcBef>
              <a:spcAft>
                <a:spcPts val="1600"/>
              </a:spcAft>
              <a:buNone/>
            </a:pPr>
            <a:r>
              <a:rPr lang="en" sz="2400"/>
              <a:t>Human brains process visuals 60,000 times faster than text</a:t>
            </a:r>
            <a:endParaRPr sz="2400"/>
          </a:p>
        </p:txBody>
      </p:sp>
      <p:pic>
        <p:nvPicPr>
          <p:cNvPr id="789" name="Google Shape;789;p115"/>
          <p:cNvPicPr preferRelativeResize="0"/>
          <p:nvPr/>
        </p:nvPicPr>
        <p:blipFill>
          <a:blip r:embed="rId3">
            <a:alphaModFix/>
          </a:blip>
          <a:stretch>
            <a:fillRect/>
          </a:stretch>
        </p:blipFill>
        <p:spPr>
          <a:xfrm>
            <a:off x="3464038" y="3667725"/>
            <a:ext cx="2215924" cy="13849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11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Visualization Techniques</a:t>
            </a:r>
            <a:endParaRPr sz="3000" b="1">
              <a:solidFill>
                <a:schemeClr val="lt2"/>
              </a:solidFill>
            </a:endParaRPr>
          </a:p>
        </p:txBody>
      </p:sp>
      <p:sp>
        <p:nvSpPr>
          <p:cNvPr id="795" name="Google Shape;795;p11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a:p>
          <a:p>
            <a:pPr marL="0" lvl="0" indent="0" algn="ctr" rtl="0">
              <a:spcBef>
                <a:spcPts val="1600"/>
              </a:spcBef>
              <a:spcAft>
                <a:spcPts val="1600"/>
              </a:spcAft>
              <a:buNone/>
            </a:pPr>
            <a:endParaRPr sz="2400"/>
          </a:p>
        </p:txBody>
      </p:sp>
      <p:pic>
        <p:nvPicPr>
          <p:cNvPr id="796" name="Google Shape;796;p116" descr="Subscribe and 🔔 to OFFICIAL BBC YouTube 👉 https://bit.ly/2IXqEIn&#10;Stream original BBC programmes FIRST on BBC iPlayer 👉 https://bbc.in/2J18jYJ&#10;&#10;More about this programme: http://www.bbc.co.uk/programmes/b00wgq0l &#10;Hans Rosling's famous lectures combine enormous quantities of public data with a sport's commentator's style to reveal the story of the world's past, present and future development. Now he explores stats in a way he has never done before - using augmented reality animation. In this spectacular section of 'The Joy of Stats' he tells the story of the world in 200 countries over 200 years using 120,000 numbers - in just four minutes. Plotting life expectancy against income for every country since 1810, Hans shows how the world we live in is radically different from the world most of us imagine.&#10;&#10;#bbc&#10;All our TV channels and S4C are available to watch live through BBC iPlayer, although some programmes may not be available to stream online due to rights. If you would like to read more on what types of programmes are available to watch live, check the 'Are all programmes that are broadcast available on BBC iPlayer?' FAQ 👉 https://bbc.in/2m8ks6v." title="Hans Rosling's 200 Countries, 200 Years, 4 Minutes - The Joy of Stats - BBC Four">
            <a:hlinkClick r:id="rId3"/>
          </p:cNvPr>
          <p:cNvPicPr preferRelativeResize="0"/>
          <p:nvPr/>
        </p:nvPicPr>
        <p:blipFill>
          <a:blip r:embed="rId4">
            <a:alphaModFix/>
          </a:blip>
          <a:stretch>
            <a:fillRect/>
          </a:stretch>
        </p:blipFill>
        <p:spPr>
          <a:xfrm>
            <a:off x="1102100" y="191275"/>
            <a:ext cx="7038900" cy="47609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CBC7576CF0524CBA25DC971C759B1A" ma:contentTypeVersion="11" ma:contentTypeDescription="Create a new document." ma:contentTypeScope="" ma:versionID="b75cfc0ac22d07dee6b548defd1e23da">
  <xsd:schema xmlns:xsd="http://www.w3.org/2001/XMLSchema" xmlns:xs="http://www.w3.org/2001/XMLSchema" xmlns:p="http://schemas.microsoft.com/office/2006/metadata/properties" xmlns:ns2="30d97937-01a3-4de3-90ca-5e7d330c9e3c" xmlns:ns3="9424389c-3462-41f7-a219-8f9753f44d22" targetNamespace="http://schemas.microsoft.com/office/2006/metadata/properties" ma:root="true" ma:fieldsID="4085e53bb4211184587dea94a899aee8" ns2:_="" ns3:_="">
    <xsd:import namespace="30d97937-01a3-4de3-90ca-5e7d330c9e3c"/>
    <xsd:import namespace="9424389c-3462-41f7-a219-8f9753f44d2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d97937-01a3-4de3-90ca-5e7d330c9e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5476efd-2625-4ffb-b020-68dbe4abf38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24389c-3462-41f7-a219-8f9753f44d2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38c3e5a-36d3-4f86-9e6d-3f95ef1e8ab6}" ma:internalName="TaxCatchAll" ma:showField="CatchAllData" ma:web="9424389c-3462-41f7-a219-8f9753f44d2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d97937-01a3-4de3-90ca-5e7d330c9e3c">
      <Terms xmlns="http://schemas.microsoft.com/office/infopath/2007/PartnerControls"/>
    </lcf76f155ced4ddcb4097134ff3c332f>
    <TaxCatchAll xmlns="9424389c-3462-41f7-a219-8f9753f44d22" xsi:nil="true"/>
  </documentManagement>
</p:properties>
</file>

<file path=customXml/itemProps1.xml><?xml version="1.0" encoding="utf-8"?>
<ds:datastoreItem xmlns:ds="http://schemas.openxmlformats.org/officeDocument/2006/customXml" ds:itemID="{15D33FDF-F0E7-45FA-AE2C-3307A1F55F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d97937-01a3-4de3-90ca-5e7d330c9e3c"/>
    <ds:schemaRef ds:uri="9424389c-3462-41f7-a219-8f9753f44d2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E023D2-9090-49A3-B049-439A4CE64DE1}">
  <ds:schemaRefs>
    <ds:schemaRef ds:uri="http://schemas.microsoft.com/sharepoint/v3/contenttype/forms"/>
  </ds:schemaRefs>
</ds:datastoreItem>
</file>

<file path=customXml/itemProps3.xml><?xml version="1.0" encoding="utf-8"?>
<ds:datastoreItem xmlns:ds="http://schemas.openxmlformats.org/officeDocument/2006/customXml" ds:itemID="{7F02AF99-1BBD-4308-A636-5106D1260BA8}">
  <ds:schemaRefs>
    <ds:schemaRef ds:uri="http://schemas.microsoft.com/office/2006/metadata/properties"/>
    <ds:schemaRef ds:uri="http://schemas.microsoft.com/office/infopath/2007/PartnerControls"/>
    <ds:schemaRef ds:uri="30d97937-01a3-4de3-90ca-5e7d330c9e3c"/>
    <ds:schemaRef ds:uri="9424389c-3462-41f7-a219-8f9753f44d22"/>
  </ds:schemaRefs>
</ds:datastoreItem>
</file>

<file path=docProps/app.xml><?xml version="1.0" encoding="utf-8"?>
<Properties xmlns="http://schemas.openxmlformats.org/officeDocument/2006/extended-properties" xmlns:vt="http://schemas.openxmlformats.org/officeDocument/2006/docPropsVTypes">
  <TotalTime>5</TotalTime>
  <Words>368</Words>
  <Application>Microsoft Office PowerPoint</Application>
  <PresentationFormat>On-screen Show (16:9)</PresentationFormat>
  <Paragraphs>81</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Lato</vt:lpstr>
      <vt:lpstr>Arial</vt:lpstr>
      <vt:lpstr>Montserrat</vt:lpstr>
      <vt:lpstr>Focus</vt:lpstr>
      <vt:lpstr>Exploratory Data Analysis</vt:lpstr>
      <vt:lpstr>Exploratory Data Analysis</vt:lpstr>
      <vt:lpstr>Exploratory Data Analysis</vt:lpstr>
      <vt:lpstr>Data Types</vt:lpstr>
      <vt:lpstr>Categorical Data - Nominal</vt:lpstr>
      <vt:lpstr>Categorical Data - Ordinal</vt:lpstr>
      <vt:lpstr>Numerical Data - Discrete</vt:lpstr>
      <vt:lpstr>Numerical Data - Continuous</vt:lpstr>
      <vt:lpstr>PowerPoint Presentation</vt:lpstr>
      <vt:lpstr>Nominal, Ordinal, Discrete, or Continuous?</vt:lpstr>
      <vt:lpstr>Data Type vs. Measures of Central Tendency</vt:lpstr>
      <vt:lpstr>Data Visualization</vt:lpstr>
      <vt:lpstr>Data Visualization</vt:lpstr>
      <vt:lpstr>Bar Charts</vt:lpstr>
      <vt:lpstr>PowerPoint Presentation</vt:lpstr>
      <vt:lpstr>Histograms</vt:lpstr>
      <vt:lpstr>Effect of Bin Size</vt:lpstr>
      <vt:lpstr>Skewness with Histogram</vt:lpstr>
      <vt:lpstr>PowerPoint Presentation</vt:lpstr>
      <vt:lpstr>Bar Chart or Histogram?</vt:lpstr>
      <vt:lpstr>Box Plots</vt:lpstr>
      <vt:lpstr>PowerPoint Presentation</vt:lpstr>
      <vt:lpstr>Why visualization?</vt:lpstr>
      <vt:lpstr>Visualization Techniques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Kevin Pamilagas</cp:lastModifiedBy>
  <cp:revision>1</cp:revision>
  <dcterms:modified xsi:type="dcterms:W3CDTF">2026-03-05T13:38:24Z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0x010100A9CBC7576CF0524CBA25DC971C759B1A</vt:lpwstr>
  </property>
</Properties>
</file>