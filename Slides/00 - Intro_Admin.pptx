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9" r:id="rId6"/>
    <p:sldId id="277" r:id="rId7"/>
    <p:sldId id="269" r:id="rId8"/>
    <p:sldId id="267" r:id="rId9"/>
    <p:sldId id="257" r:id="rId10"/>
    <p:sldId id="280" r:id="rId11"/>
    <p:sldId id="264" r:id="rId12"/>
    <p:sldId id="282" r:id="rId13"/>
    <p:sldId id="276" r:id="rId14"/>
    <p:sldId id="281" r:id="rId15"/>
    <p:sldId id="265" r:id="rId16"/>
    <p:sldId id="266" r:id="rId17"/>
    <p:sldId id="258" r:id="rId18"/>
    <p:sldId id="259" r:id="rId19"/>
    <p:sldId id="260" r:id="rId20"/>
    <p:sldId id="261" r:id="rId21"/>
    <p:sldId id="268" r:id="rId22"/>
    <p:sldId id="262" r:id="rId23"/>
    <p:sldId id="263" r:id="rId24"/>
  </p:sldIdLst>
  <p:sldSz cx="9144000" cy="6858000" type="screen4x3"/>
  <p:notesSz cx="7315200" cy="96012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81" autoAdjust="0"/>
  </p:normalViewPr>
  <p:slideViewPr>
    <p:cSldViewPr snapToGrid="0">
      <p:cViewPr varScale="1">
        <p:scale>
          <a:sx n="109" d="100"/>
          <a:sy n="109" d="100"/>
        </p:scale>
        <p:origin x="1656" y="96"/>
      </p:cViewPr>
      <p:guideLst/>
    </p:cSldViewPr>
  </p:slideViewPr>
  <p:outlineViewPr>
    <p:cViewPr>
      <p:scale>
        <a:sx n="33" d="100"/>
        <a:sy n="33" d="100"/>
      </p:scale>
      <p:origin x="0" y="-1380"/>
    </p:cViewPr>
  </p:outlin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381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ILAGAS, KEVIN S CTR USAF AETC AFIT/LSM" userId="009fbf30-8171-4f28-916c-cb4b56e6ee63" providerId="ADAL" clId="{E8BF0AA5-E1AB-439F-9F39-2DFCC22BD826}"/>
    <pc:docChg chg="modSld">
      <pc:chgData name="PAMILAGAS, KEVIN S CTR USAF AETC AFIT/LSM" userId="009fbf30-8171-4f28-916c-cb4b56e6ee63" providerId="ADAL" clId="{E8BF0AA5-E1AB-439F-9F39-2DFCC22BD826}" dt="2025-12-19T17:32:04.377" v="93" actId="20577"/>
      <pc:docMkLst>
        <pc:docMk/>
      </pc:docMkLst>
      <pc:sldChg chg="modSp mod">
        <pc:chgData name="PAMILAGAS, KEVIN S CTR USAF AETC AFIT/LSM" userId="009fbf30-8171-4f28-916c-cb4b56e6ee63" providerId="ADAL" clId="{E8BF0AA5-E1AB-439F-9F39-2DFCC22BD826}" dt="2025-12-15T13:50:43.763" v="0" actId="20577"/>
        <pc:sldMkLst>
          <pc:docMk/>
          <pc:sldMk cId="1200624107" sldId="256"/>
        </pc:sldMkLst>
        <pc:spChg chg="mod">
          <ac:chgData name="PAMILAGAS, KEVIN S CTR USAF AETC AFIT/LSM" userId="009fbf30-8171-4f28-916c-cb4b56e6ee63" providerId="ADAL" clId="{E8BF0AA5-E1AB-439F-9F39-2DFCC22BD826}" dt="2025-12-15T13:50:43.763" v="0" actId="20577"/>
          <ac:spMkLst>
            <pc:docMk/>
            <pc:sldMk cId="1200624107" sldId="256"/>
            <ac:spMk id="6" creationId="{00000000-0000-0000-0000-000000000000}"/>
          </ac:spMkLst>
        </pc:spChg>
      </pc:sldChg>
      <pc:sldChg chg="modSp mod">
        <pc:chgData name="PAMILAGAS, KEVIN S CTR USAF AETC AFIT/LSM" userId="009fbf30-8171-4f28-916c-cb4b56e6ee63" providerId="ADAL" clId="{E8BF0AA5-E1AB-439F-9F39-2DFCC22BD826}" dt="2025-12-19T17:32:04.377" v="93" actId="20577"/>
        <pc:sldMkLst>
          <pc:docMk/>
          <pc:sldMk cId="1666906562" sldId="279"/>
        </pc:sldMkLst>
        <pc:spChg chg="mod">
          <ac:chgData name="PAMILAGAS, KEVIN S CTR USAF AETC AFIT/LSM" userId="009fbf30-8171-4f28-916c-cb4b56e6ee63" providerId="ADAL" clId="{E8BF0AA5-E1AB-439F-9F39-2DFCC22BD826}" dt="2025-12-19T13:38:34.170" v="78" actId="20577"/>
          <ac:spMkLst>
            <pc:docMk/>
            <pc:sldMk cId="1666906562" sldId="279"/>
            <ac:spMk id="2" creationId="{00000000-0000-0000-0000-000000000000}"/>
          </ac:spMkLst>
        </pc:spChg>
        <pc:spChg chg="mod">
          <ac:chgData name="PAMILAGAS, KEVIN S CTR USAF AETC AFIT/LSM" userId="009fbf30-8171-4f28-916c-cb4b56e6ee63" providerId="ADAL" clId="{E8BF0AA5-E1AB-439F-9F39-2DFCC22BD826}" dt="2025-12-19T17:32:04.377" v="93" actId="20577"/>
          <ac:spMkLst>
            <pc:docMk/>
            <pc:sldMk cId="1666906562" sldId="279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43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45339156-D567-496F-8C1B-A0D27A63BC1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0EF240FC-2CF2-4EB1-8271-F3765CBA0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7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557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F240FC-2CF2-4EB1-8271-F3765CBA0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98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782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21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09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494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18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17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52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24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28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99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75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3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44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87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240FC-2CF2-4EB1-8271-F3765CBA09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92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3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5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4038600" cy="4068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0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272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66999"/>
            <a:ext cx="4040188" cy="3459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272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666999"/>
            <a:ext cx="4041775" cy="3459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9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9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68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49119"/>
            <a:ext cx="3008313" cy="417704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4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8199"/>
            <a:ext cx="5486400" cy="3889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9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5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38200"/>
            <a:ext cx="2057400" cy="5287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38200"/>
            <a:ext cx="6019800" cy="5287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9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Same Side Corner Rectangle 7"/>
          <p:cNvSpPr/>
          <p:nvPr>
            <p:custDataLst>
              <p:tags r:id="rId13"/>
            </p:custDataLst>
          </p:nvPr>
        </p:nvSpPr>
        <p:spPr>
          <a:xfrm>
            <a:off x="0" y="0"/>
            <a:ext cx="9144000" cy="6858000"/>
          </a:xfrm>
          <a:prstGeom prst="round2SameRect">
            <a:avLst>
              <a:gd name="adj1" fmla="val 479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0800" h="508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ectangle 6"/>
          <p:cNvSpPr/>
          <p:nvPr>
            <p:custDataLst>
              <p:tags r:id="rId14"/>
            </p:custDataLst>
          </p:nvPr>
        </p:nvSpPr>
        <p:spPr>
          <a:xfrm>
            <a:off x="76200" y="609600"/>
            <a:ext cx="8991600" cy="617220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/>
            <a:lightRig rig="threePt" dir="t"/>
          </a:scene3d>
          <a:sp3d extrusionH="63500" contourW="12700">
            <a:bevelT w="25400" h="25400" prst="relaxedInset"/>
            <a:extrusionClr>
              <a:schemeClr val="tx1"/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u="non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7" descr="LS Logo (New - Transparent)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180696" y="146843"/>
            <a:ext cx="378898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/>
          <p:cNvSpPr txBox="1"/>
          <p:nvPr>
            <p:custDataLst>
              <p:tags r:id="rId16"/>
            </p:custDataLst>
          </p:nvPr>
        </p:nvSpPr>
        <p:spPr>
          <a:xfrm>
            <a:off x="685800" y="94911"/>
            <a:ext cx="678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baseline="0" dirty="0">
                <a:solidFill>
                  <a:schemeClr val="bg1"/>
                </a:solidFill>
                <a:effectLst>
                  <a:outerShdw blurRad="38100" dist="76200" dir="2700000" algn="tl" rotWithShape="0">
                    <a:prstClr val="black">
                      <a:alpha val="8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Introduction and Admin</a:t>
            </a:r>
            <a:endParaRPr lang="en-US" sz="2000" b="1" dirty="0">
              <a:solidFill>
                <a:schemeClr val="bg1"/>
              </a:solidFill>
              <a:effectLst>
                <a:outerShdw blurRad="38100" dist="76200" dir="2700000" algn="tl" rotWithShape="0">
                  <a:prstClr val="black">
                    <a:alpha val="8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76200" y="6096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57200" y="2133600"/>
            <a:ext cx="8229600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E5CB39B-8E5F-485E-A282-592B276E07F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B6FECFF9-91C9-4C11-A59B-37646CB45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6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400" b="1" i="0" u="none" kern="1200" spc="3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Christopher.Swartz.6@us.af.mi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evin.Pamilagas.3.ctr@us.af.mi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hristopher.Swartz.6@us.af.mil" TargetMode="External"/><Relationship Id="rId7" Type="http://schemas.openxmlformats.org/officeDocument/2006/relationships/hyperlink" Target="mailto:stacie.taylor.1@us.af.mi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Brett.Holland.2.ctr@us.af.mil" TargetMode="External"/><Relationship Id="rId5" Type="http://schemas.openxmlformats.org/officeDocument/2006/relationships/hyperlink" Target="mailto:Rhea.Hanks.2.ctr@us.af.mil" TargetMode="External"/><Relationship Id="rId4" Type="http://schemas.openxmlformats.org/officeDocument/2006/relationships/hyperlink" Target="mailto:Kevin.Pamilagas.3.ctr@us.af.mi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itches.mil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78484"/>
            <a:ext cx="7772400" cy="1470025"/>
          </a:xfrm>
        </p:spPr>
        <p:txBody>
          <a:bodyPr/>
          <a:lstStyle/>
          <a:p>
            <a:r>
              <a:rPr lang="en-US" dirty="0"/>
              <a:t>Course Introduction and Admin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584" y="3346022"/>
            <a:ext cx="7282832" cy="1752600"/>
          </a:xfrm>
        </p:spPr>
        <p:txBody>
          <a:bodyPr/>
          <a:lstStyle/>
          <a:p>
            <a:r>
              <a:rPr lang="en-US" dirty="0"/>
              <a:t>DSS 105</a:t>
            </a:r>
          </a:p>
          <a:p>
            <a:r>
              <a:rPr lang="en-US" dirty="0"/>
              <a:t>Foundations of Python Programming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77897"/>
            <a:ext cx="1254197" cy="1163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7" y="5369866"/>
            <a:ext cx="1161819" cy="1281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3424" y="5396135"/>
            <a:ext cx="602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Start:  0900 EST</a:t>
            </a:r>
          </a:p>
        </p:txBody>
      </p:sp>
    </p:spTree>
    <p:extLst>
      <p:ext uri="{BB962C8B-B14F-4D97-AF65-F5344CB8AC3E}">
        <p14:creationId xmlns:p14="http://schemas.microsoft.com/office/powerpoint/2010/main" val="120062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78484"/>
            <a:ext cx="7772400" cy="1470025"/>
          </a:xfrm>
        </p:spPr>
        <p:txBody>
          <a:bodyPr/>
          <a:lstStyle/>
          <a:p>
            <a:r>
              <a:rPr lang="en-US" dirty="0"/>
              <a:t>Day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044" y="3252298"/>
            <a:ext cx="7282832" cy="1752600"/>
          </a:xfrm>
        </p:spPr>
        <p:txBody>
          <a:bodyPr/>
          <a:lstStyle/>
          <a:p>
            <a:r>
              <a:rPr lang="en-US" dirty="0"/>
              <a:t>DSS 105</a:t>
            </a:r>
          </a:p>
          <a:p>
            <a:r>
              <a:rPr lang="en-US" dirty="0"/>
              <a:t>Foundations of Python Programming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69866"/>
            <a:ext cx="1254197" cy="11797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7" y="5369866"/>
            <a:ext cx="1161819" cy="1281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7993" y="5509856"/>
            <a:ext cx="602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RESUME: </a:t>
            </a:r>
            <a:r>
              <a:rPr lang="en-US" sz="3600" b="1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1240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77897"/>
            <a:ext cx="1254197" cy="11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0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78484"/>
            <a:ext cx="7772400" cy="1470025"/>
          </a:xfrm>
        </p:spPr>
        <p:txBody>
          <a:bodyPr/>
          <a:lstStyle/>
          <a:p>
            <a:r>
              <a:rPr lang="en-US" dirty="0"/>
              <a:t>Day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1849" y="3314124"/>
            <a:ext cx="7282832" cy="1752600"/>
          </a:xfrm>
        </p:spPr>
        <p:txBody>
          <a:bodyPr/>
          <a:lstStyle/>
          <a:p>
            <a:r>
              <a:rPr lang="en-US" dirty="0"/>
              <a:t>DSS 101/102</a:t>
            </a:r>
          </a:p>
          <a:p>
            <a:r>
              <a:rPr lang="en-US" dirty="0"/>
              <a:t>Foundations in Python Programming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77897"/>
            <a:ext cx="1254197" cy="1163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7" y="5369866"/>
            <a:ext cx="1161819" cy="1281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3424" y="5396135"/>
            <a:ext cx="6027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50000"/>
                  </a:schemeClr>
                </a:solidFill>
              </a:rPr>
              <a:t>Resume:  1210 EST</a:t>
            </a:r>
          </a:p>
        </p:txBody>
      </p:sp>
    </p:spTree>
    <p:extLst>
      <p:ext uri="{BB962C8B-B14F-4D97-AF65-F5344CB8AC3E}">
        <p14:creationId xmlns:p14="http://schemas.microsoft.com/office/powerpoint/2010/main" val="140841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78484"/>
            <a:ext cx="7772400" cy="1470025"/>
          </a:xfrm>
        </p:spPr>
        <p:txBody>
          <a:bodyPr/>
          <a:lstStyle/>
          <a:p>
            <a:r>
              <a:rPr lang="en-US" dirty="0"/>
              <a:t>Day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044" y="3252298"/>
            <a:ext cx="7282832" cy="1752600"/>
          </a:xfrm>
        </p:spPr>
        <p:txBody>
          <a:bodyPr/>
          <a:lstStyle/>
          <a:p>
            <a:r>
              <a:rPr lang="en-US" dirty="0"/>
              <a:t>DSS 101/102</a:t>
            </a:r>
          </a:p>
          <a:p>
            <a:r>
              <a:rPr lang="en-US" dirty="0"/>
              <a:t>Foundations in Python Programming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69866"/>
            <a:ext cx="1254197" cy="11797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7" y="5369866"/>
            <a:ext cx="1161819" cy="1281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7993" y="5509856"/>
            <a:ext cx="602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        Resume</a:t>
            </a:r>
            <a:r>
              <a:rPr lang="en-US" sz="3600" b="1">
                <a:solidFill>
                  <a:schemeClr val="accent3">
                    <a:lumMod val="50000"/>
                  </a:schemeClr>
                </a:solidFill>
              </a:rPr>
              <a:t>: 1310 </a:t>
            </a:r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EST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659" y="5377897"/>
            <a:ext cx="1254197" cy="11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5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355496" cy="3992563"/>
          </a:xfrm>
        </p:spPr>
        <p:txBody>
          <a:bodyPr>
            <a:normAutofit/>
          </a:bodyPr>
          <a:lstStyle/>
          <a:p>
            <a:r>
              <a:rPr lang="en-US" dirty="0"/>
              <a:t>Instructor Welcome/Introduction</a:t>
            </a:r>
          </a:p>
          <a:p>
            <a:r>
              <a:rPr lang="en-US" dirty="0"/>
              <a:t>Course Schedule</a:t>
            </a:r>
          </a:p>
          <a:p>
            <a:r>
              <a:rPr lang="en-US" dirty="0"/>
              <a:t>Classroom Admin Rules</a:t>
            </a:r>
          </a:p>
          <a:p>
            <a:r>
              <a:rPr lang="en-US" dirty="0"/>
              <a:t>Live Course via Classroom</a:t>
            </a:r>
          </a:p>
          <a:p>
            <a:r>
              <a:rPr lang="en-US" dirty="0"/>
              <a:t>Introductions and Expectations</a:t>
            </a:r>
          </a:p>
        </p:txBody>
      </p:sp>
    </p:spTree>
    <p:extLst>
      <p:ext uri="{BB962C8B-B14F-4D97-AF65-F5344CB8AC3E}">
        <p14:creationId xmlns:p14="http://schemas.microsoft.com/office/powerpoint/2010/main" val="397249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Instructor Welcome/Introduction</a:t>
            </a:r>
          </a:p>
          <a:p>
            <a:r>
              <a:rPr lang="en-US" dirty="0"/>
              <a:t>Course Schedule</a:t>
            </a:r>
          </a:p>
          <a:p>
            <a:r>
              <a:rPr lang="en-US" dirty="0"/>
              <a:t>Non-attribution</a:t>
            </a:r>
          </a:p>
          <a:p>
            <a:r>
              <a:rPr lang="en-US" dirty="0"/>
              <a:t>Academic Integrity</a:t>
            </a:r>
          </a:p>
          <a:p>
            <a:r>
              <a:rPr lang="en-US" dirty="0"/>
              <a:t>Cell Phones</a:t>
            </a:r>
          </a:p>
          <a:p>
            <a:r>
              <a:rPr lang="en-US" dirty="0"/>
              <a:t>Facilities</a:t>
            </a:r>
          </a:p>
          <a:p>
            <a:r>
              <a:rPr lang="en-US" dirty="0"/>
              <a:t>Expectations</a:t>
            </a:r>
          </a:p>
        </p:txBody>
      </p:sp>
    </p:spTree>
    <p:extLst>
      <p:ext uri="{BB962C8B-B14F-4D97-AF65-F5344CB8AC3E}">
        <p14:creationId xmlns:p14="http://schemas.microsoft.com/office/powerpoint/2010/main" val="390603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Verdana"/>
                <a:ea typeface="Verdana"/>
              </a:rPr>
              <a:t>Mr. Christopher Swartz</a:t>
            </a:r>
          </a:p>
          <a:p>
            <a:pPr lvl="1"/>
            <a:r>
              <a:rPr lang="en-US" sz="2000" dirty="0">
                <a:latin typeface="Verdana"/>
                <a:ea typeface="Verdana"/>
                <a:hlinkClick r:id="rId3"/>
              </a:rPr>
              <a:t>Christopher.Swartz.6@us.af.mil</a:t>
            </a:r>
            <a:r>
              <a:rPr lang="en-US" sz="2000" dirty="0">
                <a:latin typeface="Verdana"/>
                <a:ea typeface="Verdana"/>
              </a:rPr>
              <a:t> </a:t>
            </a:r>
            <a:br>
              <a:rPr lang="en-US" sz="2000" dirty="0">
                <a:latin typeface="Verdana"/>
                <a:ea typeface="Verdana"/>
              </a:rPr>
            </a:br>
            <a:endParaRPr lang="en-US" sz="2000" dirty="0">
              <a:latin typeface="Verdana"/>
              <a:ea typeface="Verdana"/>
            </a:endParaRPr>
          </a:p>
          <a:p>
            <a:r>
              <a:rPr lang="en-US" sz="2400" dirty="0">
                <a:latin typeface="Verdana"/>
                <a:ea typeface="Verdana"/>
              </a:rPr>
              <a:t>Mr. Kevin </a:t>
            </a:r>
            <a:r>
              <a:rPr lang="en-US" sz="2400" dirty="0" err="1">
                <a:latin typeface="Verdana"/>
                <a:ea typeface="Verdana"/>
              </a:rPr>
              <a:t>Pamilagas</a:t>
            </a:r>
            <a:endParaRPr lang="en-US" sz="2400" dirty="0"/>
          </a:p>
          <a:p>
            <a:pPr lvl="1"/>
            <a:r>
              <a:rPr lang="en-US" sz="2000" dirty="0">
                <a:hlinkClick r:id="rId4"/>
              </a:rPr>
              <a:t>Kevin.Pamilagas.3.ctr@us.af.mil</a:t>
            </a:r>
            <a:endParaRPr lang="en-US" sz="2000" dirty="0"/>
          </a:p>
          <a:p>
            <a:pPr lvl="1"/>
            <a:r>
              <a:rPr lang="en-US" sz="2000" dirty="0"/>
              <a:t>(760) 695-2771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058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400" dirty="0"/>
              <a:t>Mr. Christopher Swartz</a:t>
            </a:r>
          </a:p>
          <a:p>
            <a:pPr lvl="1"/>
            <a:r>
              <a:rPr lang="en-US" sz="2000" dirty="0">
                <a:hlinkClick r:id="rId3"/>
              </a:rPr>
              <a:t>Christopher.Swartz.6@us.af.mil</a:t>
            </a:r>
            <a:endParaRPr lang="en-US" sz="2000" dirty="0"/>
          </a:p>
          <a:p>
            <a:pPr lvl="1"/>
            <a:r>
              <a:rPr lang="en-US" sz="2000" dirty="0"/>
              <a:t>(740) 396-0163</a:t>
            </a:r>
          </a:p>
          <a:p>
            <a:pPr lvl="1"/>
            <a:endParaRPr lang="en-US" sz="2000" dirty="0"/>
          </a:p>
          <a:p>
            <a:r>
              <a:rPr lang="en-US" sz="2400" dirty="0"/>
              <a:t>Mr. Kevin </a:t>
            </a:r>
            <a:r>
              <a:rPr lang="en-US" sz="2400" dirty="0" err="1"/>
              <a:t>Pamilagas</a:t>
            </a:r>
            <a:endParaRPr lang="en-US" sz="2400" dirty="0"/>
          </a:p>
          <a:p>
            <a:pPr lvl="1"/>
            <a:r>
              <a:rPr lang="en-US" sz="2000" dirty="0">
                <a:hlinkClick r:id="rId4"/>
              </a:rPr>
              <a:t>Kevin.Pamilagas.3.ctr@us.af.mil</a:t>
            </a:r>
            <a:endParaRPr lang="en-US" sz="2000" dirty="0"/>
          </a:p>
          <a:p>
            <a:pPr lvl="1"/>
            <a:r>
              <a:rPr lang="en-US" sz="2000" dirty="0"/>
              <a:t>(760) 695-2771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Ms. Rhea Hanks</a:t>
            </a:r>
          </a:p>
          <a:p>
            <a:pPr lvl="1"/>
            <a:r>
              <a:rPr lang="en-US" sz="2000" dirty="0">
                <a:hlinkClick r:id="rId5"/>
              </a:rPr>
              <a:t>Rhea.Hanks.2.ctr@us.af.mil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Mr. Brett Holland</a:t>
            </a:r>
          </a:p>
          <a:p>
            <a:pPr lvl="1"/>
            <a:r>
              <a:rPr lang="en-US" sz="2000" dirty="0">
                <a:hlinkClick r:id="rId6"/>
              </a:rPr>
              <a:t>Brett.Holland.2.ctr@us.af.mil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Ms. Stacie Taylor</a:t>
            </a:r>
          </a:p>
          <a:p>
            <a:pPr lvl="1"/>
            <a:r>
              <a:rPr lang="en-US" sz="2000" dirty="0">
                <a:hlinkClick r:id="rId7"/>
              </a:rPr>
              <a:t>stacie.taylor.1@us.af.mil</a:t>
            </a:r>
            <a:endParaRPr lang="en-US" sz="2000" dirty="0"/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517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0F18D4-8F54-E735-E511-1A3EC413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FC8C0B-8B96-89E3-9A15-141AA5726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246" y="714376"/>
            <a:ext cx="5499508" cy="592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73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BED00-9EE8-97B3-F1A0-63518422A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608428"/>
            <a:ext cx="6210300" cy="608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37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5823" y="6450568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*** NOTE:  All times listed are Eastern Time (US) ***</a:t>
            </a:r>
            <a:r>
              <a:rPr lang="en-US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AC2639-A430-756D-9695-B1D8994D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73" y="1383030"/>
            <a:ext cx="6210300" cy="40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09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Schedule/Critiques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Handouts with Schedule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Survey and Certificate after Graduation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Daily Video recordings of presentations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6807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Freedom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may express your opinions concerning current or proposed policies, regulations and procedures openly, honestly, and professionally</a:t>
            </a:r>
          </a:p>
          <a:p>
            <a:r>
              <a:rPr lang="en-US" sz="2400" dirty="0"/>
              <a:t>You may not attack the character, personality or other personal attributes of any individual</a:t>
            </a:r>
          </a:p>
          <a:p>
            <a:r>
              <a:rPr lang="en-US" sz="2400" dirty="0"/>
              <a:t>Academic freedom must be tempered by good judgment to refrain from making offensive remarks, unfounded opinions, or irresponsible statements.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258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What you say in class will not be attributed to you if and when your thoughts or ideas are repeated outside of class</a:t>
            </a:r>
          </a:p>
          <a:p>
            <a:r>
              <a:rPr lang="en-US" sz="2400" dirty="0"/>
              <a:t>All guest speakers, students, and permanent-party personnel are prohibited from divulging the identity of any particular speaker, whether a guest speaker, faculty member, or student, for the purpose of attributing to that speaker any specific remarks or statements, including but not limited to offensive remarks and irresponsible statements.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3131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 tests, assignments, or grades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4200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Phones/Email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know the drill</a:t>
            </a:r>
          </a:p>
          <a:p>
            <a:r>
              <a:rPr lang="en-US" sz="2400" dirty="0"/>
              <a:t>Step out if you need to take a call</a:t>
            </a:r>
          </a:p>
        </p:txBody>
      </p:sp>
    </p:spTree>
    <p:extLst>
      <p:ext uri="{BB962C8B-B14F-4D97-AF65-F5344CB8AC3E}">
        <p14:creationId xmlns:p14="http://schemas.microsoft.com/office/powerpoint/2010/main" val="2992313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Break Room / Vending</a:t>
            </a:r>
          </a:p>
          <a:p>
            <a:r>
              <a:rPr lang="en-US" sz="2400" dirty="0"/>
              <a:t>Rest Rooms</a:t>
            </a:r>
          </a:p>
          <a:p>
            <a:r>
              <a:rPr lang="en-US" sz="2400" dirty="0"/>
              <a:t>In case of emergency</a:t>
            </a:r>
          </a:p>
        </p:txBody>
      </p:sp>
    </p:spTree>
    <p:extLst>
      <p:ext uri="{BB962C8B-B14F-4D97-AF65-F5344CB8AC3E}">
        <p14:creationId xmlns:p14="http://schemas.microsoft.com/office/powerpoint/2010/main" val="76617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Course via Classroom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1615440"/>
            <a:ext cx="8229600" cy="5448300"/>
          </a:xfrm>
        </p:spPr>
        <p:txBody>
          <a:bodyPr>
            <a:normAutofit/>
          </a:bodyPr>
          <a:lstStyle/>
          <a:p>
            <a:r>
              <a:rPr lang="en-US" sz="2400" dirty="0"/>
              <a:t>Access to a Python-enabled IDE</a:t>
            </a:r>
          </a:p>
          <a:p>
            <a:pPr lvl="1"/>
            <a:r>
              <a:rPr lang="en-US" sz="2000" dirty="0"/>
              <a:t>Recommended Anaconda Cloud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Recommended Setup – 2 screens</a:t>
            </a:r>
          </a:p>
          <a:p>
            <a:pPr lvl="1"/>
            <a:r>
              <a:rPr lang="en-US" sz="2000" dirty="0"/>
              <a:t>One dedicated to video and presentations</a:t>
            </a:r>
          </a:p>
          <a:p>
            <a:pPr lvl="1"/>
            <a:r>
              <a:rPr lang="en-US" sz="2000" dirty="0"/>
              <a:t>Second for independent work on course files</a:t>
            </a:r>
          </a:p>
          <a:p>
            <a:pPr lvl="1"/>
            <a:endParaRPr lang="en-US" sz="2000" dirty="0"/>
          </a:p>
          <a:p>
            <a:r>
              <a:rPr lang="en-US" sz="2400" dirty="0"/>
              <a:t>For Python file/data manipulation – computer mouse vice laptop touch pads or touch screens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Internet Connectivity</a:t>
            </a:r>
          </a:p>
          <a:p>
            <a:pPr lvl="1"/>
            <a:r>
              <a:rPr lang="en-US" sz="2000" dirty="0"/>
              <a:t>VPN required to access </a:t>
            </a:r>
            <a:r>
              <a:rPr lang="en-US" sz="1400" dirty="0">
                <a:hlinkClick r:id="rId3"/>
              </a:rPr>
              <a:t>STITCHES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403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Name</a:t>
            </a:r>
          </a:p>
          <a:p>
            <a:r>
              <a:rPr lang="en-US" sz="2400" dirty="0"/>
              <a:t>Current Position</a:t>
            </a:r>
          </a:p>
          <a:p>
            <a:r>
              <a:rPr lang="en-US" sz="2400" dirty="0"/>
              <a:t>What do you hope to get out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657998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61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8&quot; unique_id=&quot;57059&quot;&gt;&lt;/object&gt;&lt;object type=&quot;2&quot; unique_id=&quot;57060&quot;&gt;&lt;object type=&quot;3&quot; unique_id=&quot;57061&quot;&gt;&lt;property id=&quot;20148&quot; value=&quot;5&quot;/&gt;&lt;property id=&quot;20300&quot; value=&quot;Slide 1 - &amp;quot;Course Introduction and Admin&amp;quot;&quot;/&gt;&lt;property id=&quot;20307&quot; value=&quot;256&quot;/&gt;&lt;/object&gt;&lt;object type=&quot;3&quot; unique_id=&quot;57107&quot;&gt;&lt;property id=&quot;20148&quot; value=&quot;5&quot;/&gt;&lt;property id=&quot;20300&quot; value=&quot;Slide 2 - &amp;quot;Topics&amp;quot;&quot;/&gt;&lt;property id=&quot;20307&quot; value=&quot;257&quot;/&gt;&lt;/object&gt;&lt;object type=&quot;3&quot; unique_id=&quot;57108&quot;&gt;&lt;property id=&quot;20148&quot; value=&quot;5&quot;/&gt;&lt;property id=&quot;20300&quot; value=&quot;Slide 3 - &amp;quot;Instructors&amp;quot;&quot;/&gt;&lt;property id=&quot;20307&quot; value=&quot;264&quot;/&gt;&lt;/object&gt;&lt;object type=&quot;3&quot; unique_id=&quot;57109&quot;&gt;&lt;property id=&quot;20148&quot; value=&quot;5&quot;/&gt;&lt;property id=&quot;20300&quot; value=&quot;Slide 4 - &amp;quot;Course Schedule/Critiques&amp;quot;&quot;/&gt;&lt;property id=&quot;20307&quot; value=&quot;265&quot;/&gt;&lt;/object&gt;&lt;object type=&quot;3&quot; unique_id=&quot;57110&quot;&gt;&lt;property id=&quot;20148&quot; value=&quot;5&quot;/&gt;&lt;property id=&quot;20300&quot; value=&quot;Slide 6 - &amp;quot;Non-attribution&amp;quot;&quot;/&gt;&lt;property id=&quot;20307&quot; value=&quot;258&quot;/&gt;&lt;/object&gt;&lt;object type=&quot;3&quot; unique_id=&quot;57111&quot;&gt;&lt;property id=&quot;20148&quot; value=&quot;5&quot;/&gt;&lt;property id=&quot;20300&quot; value=&quot;Slide 7 - &amp;quot;Academic Integrity&amp;quot;&quot;/&gt;&lt;property id=&quot;20307&quot; value=&quot;259&quot;/&gt;&lt;/object&gt;&lt;object type=&quot;3&quot; unique_id=&quot;57112&quot;&gt;&lt;property id=&quot;20148&quot; value=&quot;5&quot;/&gt;&lt;property id=&quot;20300&quot; value=&quot;Slide 8 - &amp;quot;Cell Phones&amp;quot;&quot;/&gt;&lt;property id=&quot;20307&quot; value=&quot;260&quot;/&gt;&lt;/object&gt;&lt;object type=&quot;3&quot; unique_id=&quot;57113&quot;&gt;&lt;property id=&quot;20148&quot; value=&quot;5&quot;/&gt;&lt;property id=&quot;20300&quot; value=&quot;Slide 9 - &amp;quot;Facilities&amp;quot;&quot;/&gt;&lt;property id=&quot;20307&quot; value=&quot;261&quot;/&gt;&lt;/object&gt;&lt;object type=&quot;3&quot; unique_id=&quot;57114&quot;&gt;&lt;property id=&quot;20148&quot; value=&quot;5&quot;/&gt;&lt;property id=&quot;20300&quot; value=&quot;Slide 10 - &amp;quot;Expectations&amp;quot;&quot;/&gt;&lt;property id=&quot;20307&quot; value=&quot;262&quot;/&gt;&lt;/object&gt;&lt;object type=&quot;3&quot; unique_id=&quot;57115&quot;&gt;&lt;property id=&quot;20148&quot; value=&quot;5&quot;/&gt;&lt;property id=&quot;20300&quot; value=&quot;Slide 11 - &amp;quot;Questions?&amp;quot;&quot;/&gt;&lt;property id=&quot;20307&quot; value=&quot;263&quot;/&gt;&lt;/object&gt;&lt;object type=&quot;3&quot; unique_id=&quot;57152&quot;&gt;&lt;property id=&quot;20148&quot; value=&quot;5&quot;/&gt;&lt;property id=&quot;20300&quot; value=&quot;Slide 5 - &amp;quot;Academic Freedom&amp;quot;&quot;/&gt;&lt;property id=&quot;20307&quot; value=&quot;266&quot;/&gt;&lt;/object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SHAPEINFO" val="&lt;ThreeDShapeInfo&gt;&lt;uuid val=&quot;{5A578697-EB02-4C41-97C9-5F52FDB6B7C4}&quot;/&gt;&lt;isInvalidForFieldText val=&quot;0&quot;/&gt;&lt;Image&gt;&lt;filename val=&quot;C:\Users\EGlover\AppData\Local\Temp\1\~CaAF75\data\asimages\{5A578697-EB02-4C41-97C9-5F52FDB6B7C4}_LtOfSld1.png&quot;/&gt;&lt;left val=&quot;-2&quot;/&gt;&lt;top val=&quot;-2&quot;/&gt;&lt;width val=&quot;724&quot;/&gt;&lt;height val=&quot;545&quot;/&gt;&lt;hasText val=&quot;1&quot;/&gt;&lt;/Image&gt;&lt;/ThreeDShape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SHAPEINFO" val="&lt;ThreeDShapeInfo&gt;&lt;uuid val=&quot;{82215DE3-AE73-4842-A985-BD9A97C5AA50}&quot;/&gt;&lt;isInvalidForFieldText val=&quot;0&quot;/&gt;&lt;Image&gt;&lt;filename val=&quot;C:\Users\EGlover\AppData\Local\Temp\1\~CaAF75\data\asimages\{82215DE3-AE73-4842-A985-BD9A97C5AA50}_LtOfSld1.png&quot;/&gt;&lt;left val=&quot;3&quot;/&gt;&lt;top val=&quot;45&quot;/&gt;&lt;width val=&quot;713&quot;/&gt;&lt;height val=&quot;491&quot;/&gt;&lt;hasText val=&quot;1&quot;/&gt;&lt;/Image&gt;&lt;/ThreeDShape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1EDE635-3B17-46AF-9EA4-B6A35294F777}&quot;/&gt;&lt;isInvalidForFieldText val=&quot;0&quot;/&gt;&lt;Image&gt;&lt;filename val=&quot;C:\Users\EGlover\AppData\Local\Temp\1\~CaAF75\data\asimages\{91EDE635-3B17-46AF-9EA4-B6A35294F777}_MtorLt.png&quot;/&gt;&lt;left val=&quot;12&quot;/&gt;&lt;top val=&quot;9&quot;/&gt;&lt;width val=&quot;39&quot;/&gt;&lt;height val=&quot;35&quot;/&gt;&lt;hasText val=&quot;1&quot;/&gt;&lt;/Image&gt;&lt;/ThreeDShape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PRESENTER_SHAPEINFO" val="&lt;ThreeDShapeInfo&gt;&lt;uuid val=&quot;{8ED6040C-1D2E-46AC-AE16-9193282CF5F0}&quot;/&gt;&lt;isInvalidForFieldText val=&quot;0&quot;/&gt;&lt;Image&gt;&lt;filename val=&quot;C:\Users\EGlover\AppData\Local\Temp\1\~CaAF75\data\asimages\{8ED6040C-1D2E-46AC-AE16-9193282CF5F0}_MtorLt.png&quot;/&gt;&lt;left val=&quot;48&quot;/&gt;&lt;top val=&quot;4&quot;/&gt;&lt;width val=&quot;541&quot;/&gt;&lt;height val=&quot;50&quot;/&gt;&lt;hasText val=&quot;1&quot;/&gt;&lt;/Image&gt;&lt;/ThreeDShape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heme/theme1.xml><?xml version="1.0" encoding="utf-8"?>
<a:theme xmlns:a="http://schemas.openxmlformats.org/drawingml/2006/main" name="AFIT DCoL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685ef0-b1b4-458c-829f-f398f8759114" xsi:nil="true"/>
    <lcf76f155ced4ddcb4097134ff3c332f xmlns="642e82f0-cb46-4fb4-8075-6238c0cf1ca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C9433B644E604094407ACD1E5072B8" ma:contentTypeVersion="11" ma:contentTypeDescription="Create a new document." ma:contentTypeScope="" ma:versionID="3d1b3dfc843b4f81bcd91a66cd11289c">
  <xsd:schema xmlns:xsd="http://www.w3.org/2001/XMLSchema" xmlns:xs="http://www.w3.org/2001/XMLSchema" xmlns:p="http://schemas.microsoft.com/office/2006/metadata/properties" xmlns:ns2="642e82f0-cb46-4fb4-8075-6238c0cf1caf" xmlns:ns3="90685ef0-b1b4-458c-829f-f398f8759114" targetNamespace="http://schemas.microsoft.com/office/2006/metadata/properties" ma:root="true" ma:fieldsID="c2c5bc462af54d3217fc1b623fd434e4" ns2:_="" ns3:_="">
    <xsd:import namespace="642e82f0-cb46-4fb4-8075-6238c0cf1caf"/>
    <xsd:import namespace="90685ef0-b1b4-458c-829f-f398f8759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e82f0-cb46-4fb4-8075-6238c0cf1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5476efd-2625-4ffb-b020-68dbe4abf3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685ef0-b1b4-458c-829f-f398f87591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a30c71-e5db-4e24-a35c-6a05396b8484}" ma:internalName="TaxCatchAll" ma:showField="CatchAllData" ma:web="90685ef0-b1b4-458c-829f-f398f87591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B5E7D-9C02-44FA-96B3-2BC0EDBB49E2}">
  <ds:schemaRefs>
    <ds:schemaRef ds:uri="http://schemas.microsoft.com/office/2006/metadata/properties"/>
    <ds:schemaRef ds:uri="http://schemas.microsoft.com/office/infopath/2007/PartnerControls"/>
    <ds:schemaRef ds:uri="30d97937-01a3-4de3-90ca-5e7d330c9e3c"/>
    <ds:schemaRef ds:uri="9424389c-3462-41f7-a219-8f9753f44d22"/>
    <ds:schemaRef ds:uri="90685ef0-b1b4-458c-829f-f398f8759114"/>
    <ds:schemaRef ds:uri="642e82f0-cb46-4fb4-8075-6238c0cf1caf"/>
  </ds:schemaRefs>
</ds:datastoreItem>
</file>

<file path=customXml/itemProps2.xml><?xml version="1.0" encoding="utf-8"?>
<ds:datastoreItem xmlns:ds="http://schemas.openxmlformats.org/officeDocument/2006/customXml" ds:itemID="{F8CF3EDC-8FD0-4596-81B6-38CE81E1E8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98221C-B78A-47B7-BF46-B98F710577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2e82f0-cb46-4fb4-8075-6238c0cf1caf"/>
    <ds:schemaRef ds:uri="90685ef0-b1b4-458c-829f-f398f87591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AFIT DCoL Theme</Template>
  <TotalTime>171252</TotalTime>
  <Words>509</Words>
  <Application>Microsoft Office PowerPoint</Application>
  <PresentationFormat>On-screen Show (4:3)</PresentationFormat>
  <Paragraphs>110</Paragraphs>
  <Slides>20</Slides>
  <Notes>17</Notes>
  <HiddenSlides>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Verdana</vt:lpstr>
      <vt:lpstr>AFIT DCoL Theme</vt:lpstr>
      <vt:lpstr>Course Introduction and Admin</vt:lpstr>
      <vt:lpstr>Day 5</vt:lpstr>
      <vt:lpstr>Day 2</vt:lpstr>
      <vt:lpstr>Day 5</vt:lpstr>
      <vt:lpstr>Topics</vt:lpstr>
      <vt:lpstr>Topics</vt:lpstr>
      <vt:lpstr>Instructors</vt:lpstr>
      <vt:lpstr>Instructors</vt:lpstr>
      <vt:lpstr>PowerPoint Presentation</vt:lpstr>
      <vt:lpstr>PowerPoint Presentation</vt:lpstr>
      <vt:lpstr>PowerPoint Presentation</vt:lpstr>
      <vt:lpstr>Course Schedule/Critiques</vt:lpstr>
      <vt:lpstr>Academic Freedom</vt:lpstr>
      <vt:lpstr>Non-attribution</vt:lpstr>
      <vt:lpstr>Academic Integrity</vt:lpstr>
      <vt:lpstr>Cell Phones/Email</vt:lpstr>
      <vt:lpstr>Facilities</vt:lpstr>
      <vt:lpstr>Live Course via Classroom</vt:lpstr>
      <vt:lpstr>Introductions and Expectations</vt:lpstr>
      <vt:lpstr>Questions?</vt:lpstr>
    </vt:vector>
  </TitlesOfParts>
  <Company>AFIT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Glover, Eric C Civ USAF AETC AFIT/LSM</dc:creator>
  <cp:lastModifiedBy>PAMILAGAS, KEVIN S CTR USAF AETC AFIT/LSM</cp:lastModifiedBy>
  <cp:revision>565</cp:revision>
  <cp:lastPrinted>2017-04-04T12:30:40Z</cp:lastPrinted>
  <dcterms:created xsi:type="dcterms:W3CDTF">2017-03-13T18:41:55Z</dcterms:created>
  <dcterms:modified xsi:type="dcterms:W3CDTF">2025-12-19T17:32:12Z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0x0101009EC9433B644E604094407ACD1E5072B8</vt:lpwstr>
  </property>
  <property fmtid="{D5CDD505-2E9C-101B-9397-08002B2CF9AE}" pid="3" name="MediaServiceImageTags">
    <vt:lpwstr/>
  </property>
</Properties>
</file>